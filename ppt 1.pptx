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Corben" charset="1" panose="020F0503020000020004"/>
      <p:regular r:id="rId17"/>
    </p:embeddedFont>
    <p:embeddedFont>
      <p:font typeface="Arimo" charset="1" panose="020B0604020202020204"/>
      <p:regular r:id="rId18"/>
    </p:embeddedFont>
    <p:embeddedFont>
      <p:font typeface="Arimo Bold" charset="1" panose="020B0704020202020204"/>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https://gamma.app/?utm_source=made-with-gamma" TargetMode="External" Type="http://schemas.openxmlformats.org/officeDocument/2006/relationships/hyperlink"/><Relationship Id="rId4" Target="../media/image2.png" Type="http://schemas.openxmlformats.org/officeDocument/2006/relationships/image"/><Relationship Id="rId5"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9FF">
                <a:alpha val="90196"/>
              </a:srgbClr>
            </a:solidFill>
          </p:spPr>
        </p:sp>
      </p:grpSp>
      <p:grpSp>
        <p:nvGrpSpPr>
          <p:cNvPr name="Group 6" id="6"/>
          <p:cNvGrpSpPr/>
          <p:nvPr/>
        </p:nvGrpSpPr>
        <p:grpSpPr>
          <a:xfrm rot="0">
            <a:off x="16049019" y="9686925"/>
            <a:ext cx="2153256" cy="514350"/>
            <a:chOff x="0" y="0"/>
            <a:chExt cx="2871008"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5"/>
              <a:stretch>
                <a:fillRect l="0" t="0" r="0" b="0"/>
              </a:stretch>
            </a:blipFill>
          </p:spPr>
        </p:sp>
      </p:grpSp>
      <p:sp>
        <p:nvSpPr>
          <p:cNvPr name="TextBox 10" id="10"/>
          <p:cNvSpPr txBox="true"/>
          <p:nvPr/>
        </p:nvSpPr>
        <p:spPr>
          <a:xfrm rot="0">
            <a:off x="992238" y="3109020"/>
            <a:ext cx="9445526" cy="1800522"/>
          </a:xfrm>
          <a:prstGeom prst="rect">
            <a:avLst/>
          </a:prstGeom>
        </p:spPr>
        <p:txBody>
          <a:bodyPr anchor="t" rtlCol="false" tIns="0" lIns="0" bIns="0" rIns="0">
            <a:spAutoFit/>
          </a:bodyPr>
          <a:lstStyle/>
          <a:p>
            <a:pPr algn="l">
              <a:lnSpc>
                <a:spcPts val="6937"/>
              </a:lnSpc>
            </a:pPr>
            <a:r>
              <a:rPr lang="en-US" sz="5562">
                <a:solidFill>
                  <a:srgbClr val="1B1B27"/>
                </a:solidFill>
                <a:latin typeface="Corben"/>
                <a:ea typeface="Corben"/>
                <a:cs typeface="Corben"/>
                <a:sym typeface="Corben"/>
              </a:rPr>
              <a:t>Battery Pack Modeling and Thermal Simulation</a:t>
            </a:r>
          </a:p>
        </p:txBody>
      </p:sp>
      <p:sp>
        <p:nvSpPr>
          <p:cNvPr name="TextBox 11" id="11"/>
          <p:cNvSpPr txBox="true"/>
          <p:nvPr/>
        </p:nvSpPr>
        <p:spPr>
          <a:xfrm rot="0">
            <a:off x="992238" y="5229969"/>
            <a:ext cx="9445526" cy="1919287"/>
          </a:xfrm>
          <a:prstGeom prst="rect">
            <a:avLst/>
          </a:prstGeom>
        </p:spPr>
        <p:txBody>
          <a:bodyPr anchor="t" rtlCol="false" tIns="0" lIns="0" bIns="0" rIns="0">
            <a:spAutoFit/>
          </a:bodyPr>
          <a:lstStyle/>
          <a:p>
            <a:pPr algn="l">
              <a:lnSpc>
                <a:spcPts val="3562"/>
              </a:lnSpc>
            </a:pPr>
            <a:r>
              <a:rPr lang="en-US" sz="2187">
                <a:solidFill>
                  <a:srgbClr val="404155"/>
                </a:solidFill>
                <a:latin typeface="Arimo"/>
                <a:ea typeface="Arimo"/>
                <a:cs typeface="Arimo"/>
                <a:sym typeface="Arimo"/>
              </a:rPr>
              <a:t>This report details our progress on modeling battery packs and simulating their thermal behavior using Simscape Battery Toolbox. We'll cover the workflow from cell to full pack, thermal considerations, and initial simulation results.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9FF">
                <a:alpha val="90196"/>
              </a:srgbClr>
            </a:solidFill>
          </p:spPr>
        </p:sp>
      </p:grpSp>
      <p:sp>
        <p:nvSpPr>
          <p:cNvPr name="TextBox 6" id="6"/>
          <p:cNvSpPr txBox="true"/>
          <p:nvPr/>
        </p:nvSpPr>
        <p:spPr>
          <a:xfrm rot="0">
            <a:off x="992238" y="798611"/>
            <a:ext cx="5316141" cy="683568"/>
          </a:xfrm>
          <a:prstGeom prst="rect">
            <a:avLst/>
          </a:prstGeom>
        </p:spPr>
        <p:txBody>
          <a:bodyPr anchor="t" rtlCol="false" tIns="0" lIns="0" bIns="0" rIns="0">
            <a:spAutoFit/>
          </a:bodyPr>
          <a:lstStyle/>
          <a:p>
            <a:pPr algn="l">
              <a:lnSpc>
                <a:spcPts val="5187"/>
              </a:lnSpc>
            </a:pPr>
            <a:r>
              <a:rPr lang="en-US" sz="4124">
                <a:solidFill>
                  <a:srgbClr val="1B1B27"/>
                </a:solidFill>
                <a:latin typeface="Corben"/>
                <a:ea typeface="Corben"/>
                <a:cs typeface="Corben"/>
                <a:sym typeface="Corben"/>
              </a:rPr>
              <a:t>Project Objective</a:t>
            </a:r>
          </a:p>
        </p:txBody>
      </p:sp>
      <p:grpSp>
        <p:nvGrpSpPr>
          <p:cNvPr name="Group 7" id="7"/>
          <p:cNvGrpSpPr/>
          <p:nvPr/>
        </p:nvGrpSpPr>
        <p:grpSpPr>
          <a:xfrm rot="0">
            <a:off x="987475" y="2035522"/>
            <a:ext cx="487859" cy="487859"/>
            <a:chOff x="0" y="0"/>
            <a:chExt cx="650478" cy="650478"/>
          </a:xfrm>
        </p:grpSpPr>
        <p:sp>
          <p:nvSpPr>
            <p:cNvPr name="Freeform 8" id="8"/>
            <p:cNvSpPr/>
            <p:nvPr/>
          </p:nvSpPr>
          <p:spPr>
            <a:xfrm flipH="false" flipV="false" rot="0">
              <a:off x="6350" y="6350"/>
              <a:ext cx="637794" cy="637794"/>
            </a:xfrm>
            <a:custGeom>
              <a:avLst/>
              <a:gdLst/>
              <a:ahLst/>
              <a:cxnLst/>
              <a:rect r="r" b="b" t="t" l="l"/>
              <a:pathLst>
                <a:path h="637794" w="637794">
                  <a:moveTo>
                    <a:pt x="0" y="119126"/>
                  </a:moveTo>
                  <a:cubicBezTo>
                    <a:pt x="0" y="53340"/>
                    <a:pt x="53340" y="0"/>
                    <a:pt x="119126" y="0"/>
                  </a:cubicBezTo>
                  <a:lnTo>
                    <a:pt x="518668" y="0"/>
                  </a:lnTo>
                  <a:cubicBezTo>
                    <a:pt x="584454" y="0"/>
                    <a:pt x="637794" y="53340"/>
                    <a:pt x="637794" y="119126"/>
                  </a:cubicBezTo>
                  <a:lnTo>
                    <a:pt x="637794" y="518668"/>
                  </a:lnTo>
                  <a:cubicBezTo>
                    <a:pt x="637794" y="584454"/>
                    <a:pt x="584454" y="637794"/>
                    <a:pt x="518668" y="637794"/>
                  </a:cubicBezTo>
                  <a:lnTo>
                    <a:pt x="119126" y="637794"/>
                  </a:lnTo>
                  <a:cubicBezTo>
                    <a:pt x="53340" y="637794"/>
                    <a:pt x="0" y="584454"/>
                    <a:pt x="0" y="518668"/>
                  </a:cubicBezTo>
                  <a:close/>
                </a:path>
              </a:pathLst>
            </a:custGeom>
            <a:solidFill>
              <a:srgbClr val="D2D9F9"/>
            </a:solidFill>
          </p:spPr>
        </p:sp>
        <p:sp>
          <p:nvSpPr>
            <p:cNvPr name="Freeform 9" id="9"/>
            <p:cNvSpPr/>
            <p:nvPr/>
          </p:nvSpPr>
          <p:spPr>
            <a:xfrm flipH="false" flipV="false" rot="0">
              <a:off x="0" y="0"/>
              <a:ext cx="650494" cy="650494"/>
            </a:xfrm>
            <a:custGeom>
              <a:avLst/>
              <a:gdLst/>
              <a:ahLst/>
              <a:cxnLst/>
              <a:rect r="r" b="b" t="t" l="l"/>
              <a:pathLst>
                <a:path h="650494" w="650494">
                  <a:moveTo>
                    <a:pt x="0" y="125476"/>
                  </a:moveTo>
                  <a:cubicBezTo>
                    <a:pt x="0" y="56134"/>
                    <a:pt x="56134" y="0"/>
                    <a:pt x="125476" y="0"/>
                  </a:cubicBezTo>
                  <a:lnTo>
                    <a:pt x="525018" y="0"/>
                  </a:lnTo>
                  <a:lnTo>
                    <a:pt x="525018" y="6350"/>
                  </a:lnTo>
                  <a:lnTo>
                    <a:pt x="525018" y="0"/>
                  </a:lnTo>
                  <a:cubicBezTo>
                    <a:pt x="594233" y="0"/>
                    <a:pt x="650494" y="56134"/>
                    <a:pt x="650494" y="125476"/>
                  </a:cubicBezTo>
                  <a:lnTo>
                    <a:pt x="644144" y="125476"/>
                  </a:lnTo>
                  <a:lnTo>
                    <a:pt x="650494" y="125476"/>
                  </a:lnTo>
                  <a:lnTo>
                    <a:pt x="650494" y="525018"/>
                  </a:lnTo>
                  <a:lnTo>
                    <a:pt x="644144" y="525018"/>
                  </a:lnTo>
                  <a:lnTo>
                    <a:pt x="650494" y="525018"/>
                  </a:lnTo>
                  <a:cubicBezTo>
                    <a:pt x="650494" y="594233"/>
                    <a:pt x="594360" y="650494"/>
                    <a:pt x="525018" y="650494"/>
                  </a:cubicBezTo>
                  <a:lnTo>
                    <a:pt x="525018" y="644144"/>
                  </a:lnTo>
                  <a:lnTo>
                    <a:pt x="525018" y="650494"/>
                  </a:lnTo>
                  <a:lnTo>
                    <a:pt x="125476" y="650494"/>
                  </a:lnTo>
                  <a:lnTo>
                    <a:pt x="125476" y="644144"/>
                  </a:lnTo>
                  <a:lnTo>
                    <a:pt x="125476" y="650494"/>
                  </a:lnTo>
                  <a:cubicBezTo>
                    <a:pt x="56134" y="650494"/>
                    <a:pt x="0" y="594360"/>
                    <a:pt x="0" y="525018"/>
                  </a:cubicBezTo>
                  <a:lnTo>
                    <a:pt x="0" y="125476"/>
                  </a:lnTo>
                  <a:lnTo>
                    <a:pt x="6350" y="125476"/>
                  </a:lnTo>
                  <a:lnTo>
                    <a:pt x="0" y="125476"/>
                  </a:lnTo>
                  <a:moveTo>
                    <a:pt x="12700" y="125476"/>
                  </a:moveTo>
                  <a:lnTo>
                    <a:pt x="12700" y="525018"/>
                  </a:lnTo>
                  <a:lnTo>
                    <a:pt x="6350" y="525018"/>
                  </a:lnTo>
                  <a:lnTo>
                    <a:pt x="12700" y="525018"/>
                  </a:lnTo>
                  <a:cubicBezTo>
                    <a:pt x="12700" y="587248"/>
                    <a:pt x="63119" y="637794"/>
                    <a:pt x="125476" y="637794"/>
                  </a:cubicBezTo>
                  <a:lnTo>
                    <a:pt x="525018" y="637794"/>
                  </a:lnTo>
                  <a:cubicBezTo>
                    <a:pt x="587248" y="637794"/>
                    <a:pt x="637794" y="587375"/>
                    <a:pt x="637794" y="525018"/>
                  </a:cubicBezTo>
                  <a:lnTo>
                    <a:pt x="637794" y="125476"/>
                  </a:lnTo>
                  <a:cubicBezTo>
                    <a:pt x="637794" y="63246"/>
                    <a:pt x="587375" y="12700"/>
                    <a:pt x="525018" y="12700"/>
                  </a:cubicBezTo>
                  <a:lnTo>
                    <a:pt x="125476" y="12700"/>
                  </a:lnTo>
                  <a:lnTo>
                    <a:pt x="125476" y="6350"/>
                  </a:lnTo>
                  <a:lnTo>
                    <a:pt x="125476" y="12700"/>
                  </a:lnTo>
                  <a:cubicBezTo>
                    <a:pt x="63119" y="12700"/>
                    <a:pt x="12700" y="63119"/>
                    <a:pt x="12700" y="125476"/>
                  </a:cubicBezTo>
                  <a:close/>
                </a:path>
              </a:pathLst>
            </a:custGeom>
            <a:solidFill>
              <a:srgbClr val="B8BFDF"/>
            </a:solidFill>
          </p:spPr>
        </p:sp>
      </p:grpSp>
      <p:sp>
        <p:nvSpPr>
          <p:cNvPr name="TextBox 10" id="10"/>
          <p:cNvSpPr txBox="true"/>
          <p:nvPr/>
        </p:nvSpPr>
        <p:spPr>
          <a:xfrm rot="0">
            <a:off x="1071935" y="2127721"/>
            <a:ext cx="318939" cy="351085"/>
          </a:xfrm>
          <a:prstGeom prst="rect">
            <a:avLst/>
          </a:prstGeom>
        </p:spPr>
        <p:txBody>
          <a:bodyPr anchor="t" rtlCol="false" tIns="0" lIns="0" bIns="0" rIns="0">
            <a:spAutoFit/>
          </a:bodyPr>
          <a:lstStyle/>
          <a:p>
            <a:pPr algn="ctr">
              <a:lnSpc>
                <a:spcPts val="2499"/>
              </a:lnSpc>
            </a:pPr>
            <a:r>
              <a:rPr lang="en-US" sz="2499">
                <a:solidFill>
                  <a:srgbClr val="404155"/>
                </a:solidFill>
                <a:latin typeface="Corben"/>
                <a:ea typeface="Corben"/>
                <a:cs typeface="Corben"/>
                <a:sym typeface="Corben"/>
              </a:rPr>
              <a:t>1</a:t>
            </a:r>
          </a:p>
        </p:txBody>
      </p:sp>
      <p:sp>
        <p:nvSpPr>
          <p:cNvPr name="TextBox 11" id="11"/>
          <p:cNvSpPr txBox="true"/>
          <p:nvPr/>
        </p:nvSpPr>
        <p:spPr>
          <a:xfrm rot="0">
            <a:off x="1683097" y="2103834"/>
            <a:ext cx="2837855" cy="341709"/>
          </a:xfrm>
          <a:prstGeom prst="rect">
            <a:avLst/>
          </a:prstGeom>
        </p:spPr>
        <p:txBody>
          <a:bodyPr anchor="t" rtlCol="false" tIns="0" lIns="0" bIns="0" rIns="0">
            <a:spAutoFit/>
          </a:bodyPr>
          <a:lstStyle/>
          <a:p>
            <a:pPr algn="l">
              <a:lnSpc>
                <a:spcPts val="2562"/>
              </a:lnSpc>
            </a:pPr>
            <a:r>
              <a:rPr lang="en-US" sz="2062">
                <a:solidFill>
                  <a:srgbClr val="404155"/>
                </a:solidFill>
                <a:latin typeface="Corben"/>
                <a:ea typeface="Corben"/>
                <a:cs typeface="Corben"/>
                <a:sym typeface="Corben"/>
              </a:rPr>
              <a:t>Battery Pack Modeling</a:t>
            </a:r>
          </a:p>
        </p:txBody>
      </p:sp>
      <p:sp>
        <p:nvSpPr>
          <p:cNvPr name="TextBox 12" id="12"/>
          <p:cNvSpPr txBox="true"/>
          <p:nvPr/>
        </p:nvSpPr>
        <p:spPr>
          <a:xfrm rot="0">
            <a:off x="1683097" y="2572345"/>
            <a:ext cx="7201495" cy="766167"/>
          </a:xfrm>
          <a:prstGeom prst="rect">
            <a:avLst/>
          </a:prstGeom>
        </p:spPr>
        <p:txBody>
          <a:bodyPr anchor="t" rtlCol="false" tIns="0" lIns="0" bIns="0" rIns="0">
            <a:spAutoFit/>
          </a:bodyPr>
          <a:lstStyle/>
          <a:p>
            <a:pPr algn="l">
              <a:lnSpc>
                <a:spcPts val="2625"/>
              </a:lnSpc>
            </a:pPr>
            <a:r>
              <a:rPr lang="en-US" sz="1625">
                <a:solidFill>
                  <a:srgbClr val="404155"/>
                </a:solidFill>
                <a:latin typeface="Arimo"/>
                <a:ea typeface="Arimo"/>
                <a:cs typeface="Arimo"/>
                <a:sym typeface="Arimo"/>
              </a:rPr>
              <a:t>Develop a detailed and scalable battery pack model using Simscape Battery Toolbox.</a:t>
            </a:r>
          </a:p>
        </p:txBody>
      </p:sp>
      <p:grpSp>
        <p:nvGrpSpPr>
          <p:cNvPr name="Group 13" id="13"/>
          <p:cNvGrpSpPr/>
          <p:nvPr/>
        </p:nvGrpSpPr>
        <p:grpSpPr>
          <a:xfrm rot="0">
            <a:off x="987475" y="3758952"/>
            <a:ext cx="487859" cy="487859"/>
            <a:chOff x="0" y="0"/>
            <a:chExt cx="650478" cy="650478"/>
          </a:xfrm>
        </p:grpSpPr>
        <p:sp>
          <p:nvSpPr>
            <p:cNvPr name="Freeform 14" id="14"/>
            <p:cNvSpPr/>
            <p:nvPr/>
          </p:nvSpPr>
          <p:spPr>
            <a:xfrm flipH="false" flipV="false" rot="0">
              <a:off x="6350" y="6350"/>
              <a:ext cx="637794" cy="637794"/>
            </a:xfrm>
            <a:custGeom>
              <a:avLst/>
              <a:gdLst/>
              <a:ahLst/>
              <a:cxnLst/>
              <a:rect r="r" b="b" t="t" l="l"/>
              <a:pathLst>
                <a:path h="637794" w="637794">
                  <a:moveTo>
                    <a:pt x="0" y="119126"/>
                  </a:moveTo>
                  <a:cubicBezTo>
                    <a:pt x="0" y="53340"/>
                    <a:pt x="53340" y="0"/>
                    <a:pt x="119126" y="0"/>
                  </a:cubicBezTo>
                  <a:lnTo>
                    <a:pt x="518668" y="0"/>
                  </a:lnTo>
                  <a:cubicBezTo>
                    <a:pt x="584454" y="0"/>
                    <a:pt x="637794" y="53340"/>
                    <a:pt x="637794" y="119126"/>
                  </a:cubicBezTo>
                  <a:lnTo>
                    <a:pt x="637794" y="518668"/>
                  </a:lnTo>
                  <a:cubicBezTo>
                    <a:pt x="637794" y="584454"/>
                    <a:pt x="584454" y="637794"/>
                    <a:pt x="518668" y="637794"/>
                  </a:cubicBezTo>
                  <a:lnTo>
                    <a:pt x="119126" y="637794"/>
                  </a:lnTo>
                  <a:cubicBezTo>
                    <a:pt x="53340" y="637794"/>
                    <a:pt x="0" y="584454"/>
                    <a:pt x="0" y="518668"/>
                  </a:cubicBezTo>
                  <a:close/>
                </a:path>
              </a:pathLst>
            </a:custGeom>
            <a:solidFill>
              <a:srgbClr val="D2D9F9"/>
            </a:solidFill>
          </p:spPr>
        </p:sp>
        <p:sp>
          <p:nvSpPr>
            <p:cNvPr name="Freeform 15" id="15"/>
            <p:cNvSpPr/>
            <p:nvPr/>
          </p:nvSpPr>
          <p:spPr>
            <a:xfrm flipH="false" flipV="false" rot="0">
              <a:off x="0" y="0"/>
              <a:ext cx="650494" cy="650494"/>
            </a:xfrm>
            <a:custGeom>
              <a:avLst/>
              <a:gdLst/>
              <a:ahLst/>
              <a:cxnLst/>
              <a:rect r="r" b="b" t="t" l="l"/>
              <a:pathLst>
                <a:path h="650494" w="650494">
                  <a:moveTo>
                    <a:pt x="0" y="125476"/>
                  </a:moveTo>
                  <a:cubicBezTo>
                    <a:pt x="0" y="56134"/>
                    <a:pt x="56134" y="0"/>
                    <a:pt x="125476" y="0"/>
                  </a:cubicBezTo>
                  <a:lnTo>
                    <a:pt x="525018" y="0"/>
                  </a:lnTo>
                  <a:lnTo>
                    <a:pt x="525018" y="6350"/>
                  </a:lnTo>
                  <a:lnTo>
                    <a:pt x="525018" y="0"/>
                  </a:lnTo>
                  <a:cubicBezTo>
                    <a:pt x="594233" y="0"/>
                    <a:pt x="650494" y="56134"/>
                    <a:pt x="650494" y="125476"/>
                  </a:cubicBezTo>
                  <a:lnTo>
                    <a:pt x="644144" y="125476"/>
                  </a:lnTo>
                  <a:lnTo>
                    <a:pt x="650494" y="125476"/>
                  </a:lnTo>
                  <a:lnTo>
                    <a:pt x="650494" y="525018"/>
                  </a:lnTo>
                  <a:lnTo>
                    <a:pt x="644144" y="525018"/>
                  </a:lnTo>
                  <a:lnTo>
                    <a:pt x="650494" y="525018"/>
                  </a:lnTo>
                  <a:cubicBezTo>
                    <a:pt x="650494" y="594233"/>
                    <a:pt x="594360" y="650494"/>
                    <a:pt x="525018" y="650494"/>
                  </a:cubicBezTo>
                  <a:lnTo>
                    <a:pt x="525018" y="644144"/>
                  </a:lnTo>
                  <a:lnTo>
                    <a:pt x="525018" y="650494"/>
                  </a:lnTo>
                  <a:lnTo>
                    <a:pt x="125476" y="650494"/>
                  </a:lnTo>
                  <a:lnTo>
                    <a:pt x="125476" y="644144"/>
                  </a:lnTo>
                  <a:lnTo>
                    <a:pt x="125476" y="650494"/>
                  </a:lnTo>
                  <a:cubicBezTo>
                    <a:pt x="56134" y="650494"/>
                    <a:pt x="0" y="594360"/>
                    <a:pt x="0" y="525018"/>
                  </a:cubicBezTo>
                  <a:lnTo>
                    <a:pt x="0" y="125476"/>
                  </a:lnTo>
                  <a:lnTo>
                    <a:pt x="6350" y="125476"/>
                  </a:lnTo>
                  <a:lnTo>
                    <a:pt x="0" y="125476"/>
                  </a:lnTo>
                  <a:moveTo>
                    <a:pt x="12700" y="125476"/>
                  </a:moveTo>
                  <a:lnTo>
                    <a:pt x="12700" y="525018"/>
                  </a:lnTo>
                  <a:lnTo>
                    <a:pt x="6350" y="525018"/>
                  </a:lnTo>
                  <a:lnTo>
                    <a:pt x="12700" y="525018"/>
                  </a:lnTo>
                  <a:cubicBezTo>
                    <a:pt x="12700" y="587248"/>
                    <a:pt x="63119" y="637794"/>
                    <a:pt x="125476" y="637794"/>
                  </a:cubicBezTo>
                  <a:lnTo>
                    <a:pt x="525018" y="637794"/>
                  </a:lnTo>
                  <a:cubicBezTo>
                    <a:pt x="587248" y="637794"/>
                    <a:pt x="637794" y="587375"/>
                    <a:pt x="637794" y="525018"/>
                  </a:cubicBezTo>
                  <a:lnTo>
                    <a:pt x="637794" y="125476"/>
                  </a:lnTo>
                  <a:cubicBezTo>
                    <a:pt x="637794" y="63246"/>
                    <a:pt x="587375" y="12700"/>
                    <a:pt x="525018" y="12700"/>
                  </a:cubicBezTo>
                  <a:lnTo>
                    <a:pt x="125476" y="12700"/>
                  </a:lnTo>
                  <a:lnTo>
                    <a:pt x="125476" y="6350"/>
                  </a:lnTo>
                  <a:lnTo>
                    <a:pt x="125476" y="12700"/>
                  </a:lnTo>
                  <a:cubicBezTo>
                    <a:pt x="63119" y="12700"/>
                    <a:pt x="12700" y="63119"/>
                    <a:pt x="12700" y="125476"/>
                  </a:cubicBezTo>
                  <a:close/>
                </a:path>
              </a:pathLst>
            </a:custGeom>
            <a:solidFill>
              <a:srgbClr val="B8BFDF"/>
            </a:solidFill>
          </p:spPr>
        </p:sp>
      </p:grpSp>
      <p:sp>
        <p:nvSpPr>
          <p:cNvPr name="TextBox 16" id="16"/>
          <p:cNvSpPr txBox="true"/>
          <p:nvPr/>
        </p:nvSpPr>
        <p:spPr>
          <a:xfrm rot="0">
            <a:off x="1071935" y="3851151"/>
            <a:ext cx="318939" cy="351085"/>
          </a:xfrm>
          <a:prstGeom prst="rect">
            <a:avLst/>
          </a:prstGeom>
        </p:spPr>
        <p:txBody>
          <a:bodyPr anchor="t" rtlCol="false" tIns="0" lIns="0" bIns="0" rIns="0">
            <a:spAutoFit/>
          </a:bodyPr>
          <a:lstStyle/>
          <a:p>
            <a:pPr algn="ctr">
              <a:lnSpc>
                <a:spcPts val="2499"/>
              </a:lnSpc>
            </a:pPr>
            <a:r>
              <a:rPr lang="en-US" sz="2499">
                <a:solidFill>
                  <a:srgbClr val="404155"/>
                </a:solidFill>
                <a:latin typeface="Corben"/>
                <a:ea typeface="Corben"/>
                <a:cs typeface="Corben"/>
                <a:sym typeface="Corben"/>
              </a:rPr>
              <a:t>2</a:t>
            </a:r>
          </a:p>
        </p:txBody>
      </p:sp>
      <p:sp>
        <p:nvSpPr>
          <p:cNvPr name="TextBox 17" id="17"/>
          <p:cNvSpPr txBox="true"/>
          <p:nvPr/>
        </p:nvSpPr>
        <p:spPr>
          <a:xfrm rot="0">
            <a:off x="1683097" y="3827264"/>
            <a:ext cx="3687664" cy="341709"/>
          </a:xfrm>
          <a:prstGeom prst="rect">
            <a:avLst/>
          </a:prstGeom>
        </p:spPr>
        <p:txBody>
          <a:bodyPr anchor="t" rtlCol="false" tIns="0" lIns="0" bIns="0" rIns="0">
            <a:spAutoFit/>
          </a:bodyPr>
          <a:lstStyle/>
          <a:p>
            <a:pPr algn="l">
              <a:lnSpc>
                <a:spcPts val="2562"/>
              </a:lnSpc>
            </a:pPr>
            <a:r>
              <a:rPr lang="en-US" sz="2062">
                <a:solidFill>
                  <a:srgbClr val="404155"/>
                </a:solidFill>
                <a:latin typeface="Corben"/>
                <a:ea typeface="Corben"/>
                <a:cs typeface="Corben"/>
                <a:sym typeface="Corben"/>
              </a:rPr>
              <a:t>Thermal Port Implementation</a:t>
            </a:r>
          </a:p>
        </p:txBody>
      </p:sp>
      <p:sp>
        <p:nvSpPr>
          <p:cNvPr name="TextBox 18" id="18"/>
          <p:cNvSpPr txBox="true"/>
          <p:nvPr/>
        </p:nvSpPr>
        <p:spPr>
          <a:xfrm rot="0">
            <a:off x="1683097" y="4295775"/>
            <a:ext cx="7201495" cy="766168"/>
          </a:xfrm>
          <a:prstGeom prst="rect">
            <a:avLst/>
          </a:prstGeom>
        </p:spPr>
        <p:txBody>
          <a:bodyPr anchor="t" rtlCol="false" tIns="0" lIns="0" bIns="0" rIns="0">
            <a:spAutoFit/>
          </a:bodyPr>
          <a:lstStyle/>
          <a:p>
            <a:pPr algn="l">
              <a:lnSpc>
                <a:spcPts val="2625"/>
              </a:lnSpc>
            </a:pPr>
            <a:r>
              <a:rPr lang="en-US" sz="1625">
                <a:solidFill>
                  <a:srgbClr val="404155"/>
                </a:solidFill>
                <a:latin typeface="Arimo"/>
                <a:ea typeface="Arimo"/>
                <a:cs typeface="Arimo"/>
                <a:sym typeface="Arimo"/>
              </a:rPr>
              <a:t>Integrate thermal observation ports to monitor temperature at critical points within the pack.</a:t>
            </a:r>
          </a:p>
        </p:txBody>
      </p:sp>
      <p:grpSp>
        <p:nvGrpSpPr>
          <p:cNvPr name="Group 19" id="19"/>
          <p:cNvGrpSpPr/>
          <p:nvPr/>
        </p:nvGrpSpPr>
        <p:grpSpPr>
          <a:xfrm rot="0">
            <a:off x="987475" y="5482381"/>
            <a:ext cx="487859" cy="487859"/>
            <a:chOff x="0" y="0"/>
            <a:chExt cx="650478" cy="650478"/>
          </a:xfrm>
        </p:grpSpPr>
        <p:sp>
          <p:nvSpPr>
            <p:cNvPr name="Freeform 20" id="20"/>
            <p:cNvSpPr/>
            <p:nvPr/>
          </p:nvSpPr>
          <p:spPr>
            <a:xfrm flipH="false" flipV="false" rot="0">
              <a:off x="6350" y="6350"/>
              <a:ext cx="637794" cy="637794"/>
            </a:xfrm>
            <a:custGeom>
              <a:avLst/>
              <a:gdLst/>
              <a:ahLst/>
              <a:cxnLst/>
              <a:rect r="r" b="b" t="t" l="l"/>
              <a:pathLst>
                <a:path h="637794" w="637794">
                  <a:moveTo>
                    <a:pt x="0" y="119126"/>
                  </a:moveTo>
                  <a:cubicBezTo>
                    <a:pt x="0" y="53340"/>
                    <a:pt x="53340" y="0"/>
                    <a:pt x="119126" y="0"/>
                  </a:cubicBezTo>
                  <a:lnTo>
                    <a:pt x="518668" y="0"/>
                  </a:lnTo>
                  <a:cubicBezTo>
                    <a:pt x="584454" y="0"/>
                    <a:pt x="637794" y="53340"/>
                    <a:pt x="637794" y="119126"/>
                  </a:cubicBezTo>
                  <a:lnTo>
                    <a:pt x="637794" y="518668"/>
                  </a:lnTo>
                  <a:cubicBezTo>
                    <a:pt x="637794" y="584454"/>
                    <a:pt x="584454" y="637794"/>
                    <a:pt x="518668" y="637794"/>
                  </a:cubicBezTo>
                  <a:lnTo>
                    <a:pt x="119126" y="637794"/>
                  </a:lnTo>
                  <a:cubicBezTo>
                    <a:pt x="53340" y="637794"/>
                    <a:pt x="0" y="584454"/>
                    <a:pt x="0" y="518668"/>
                  </a:cubicBezTo>
                  <a:close/>
                </a:path>
              </a:pathLst>
            </a:custGeom>
            <a:solidFill>
              <a:srgbClr val="D2D9F9"/>
            </a:solidFill>
          </p:spPr>
        </p:sp>
        <p:sp>
          <p:nvSpPr>
            <p:cNvPr name="Freeform 21" id="21"/>
            <p:cNvSpPr/>
            <p:nvPr/>
          </p:nvSpPr>
          <p:spPr>
            <a:xfrm flipH="false" flipV="false" rot="0">
              <a:off x="0" y="0"/>
              <a:ext cx="650494" cy="650494"/>
            </a:xfrm>
            <a:custGeom>
              <a:avLst/>
              <a:gdLst/>
              <a:ahLst/>
              <a:cxnLst/>
              <a:rect r="r" b="b" t="t" l="l"/>
              <a:pathLst>
                <a:path h="650494" w="650494">
                  <a:moveTo>
                    <a:pt x="0" y="125476"/>
                  </a:moveTo>
                  <a:cubicBezTo>
                    <a:pt x="0" y="56134"/>
                    <a:pt x="56134" y="0"/>
                    <a:pt x="125476" y="0"/>
                  </a:cubicBezTo>
                  <a:lnTo>
                    <a:pt x="525018" y="0"/>
                  </a:lnTo>
                  <a:lnTo>
                    <a:pt x="525018" y="6350"/>
                  </a:lnTo>
                  <a:lnTo>
                    <a:pt x="525018" y="0"/>
                  </a:lnTo>
                  <a:cubicBezTo>
                    <a:pt x="594233" y="0"/>
                    <a:pt x="650494" y="56134"/>
                    <a:pt x="650494" y="125476"/>
                  </a:cubicBezTo>
                  <a:lnTo>
                    <a:pt x="644144" y="125476"/>
                  </a:lnTo>
                  <a:lnTo>
                    <a:pt x="650494" y="125476"/>
                  </a:lnTo>
                  <a:lnTo>
                    <a:pt x="650494" y="525018"/>
                  </a:lnTo>
                  <a:lnTo>
                    <a:pt x="644144" y="525018"/>
                  </a:lnTo>
                  <a:lnTo>
                    <a:pt x="650494" y="525018"/>
                  </a:lnTo>
                  <a:cubicBezTo>
                    <a:pt x="650494" y="594233"/>
                    <a:pt x="594360" y="650494"/>
                    <a:pt x="525018" y="650494"/>
                  </a:cubicBezTo>
                  <a:lnTo>
                    <a:pt x="525018" y="644144"/>
                  </a:lnTo>
                  <a:lnTo>
                    <a:pt x="525018" y="650494"/>
                  </a:lnTo>
                  <a:lnTo>
                    <a:pt x="125476" y="650494"/>
                  </a:lnTo>
                  <a:lnTo>
                    <a:pt x="125476" y="644144"/>
                  </a:lnTo>
                  <a:lnTo>
                    <a:pt x="125476" y="650494"/>
                  </a:lnTo>
                  <a:cubicBezTo>
                    <a:pt x="56134" y="650494"/>
                    <a:pt x="0" y="594360"/>
                    <a:pt x="0" y="525018"/>
                  </a:cubicBezTo>
                  <a:lnTo>
                    <a:pt x="0" y="125476"/>
                  </a:lnTo>
                  <a:lnTo>
                    <a:pt x="6350" y="125476"/>
                  </a:lnTo>
                  <a:lnTo>
                    <a:pt x="0" y="125476"/>
                  </a:lnTo>
                  <a:moveTo>
                    <a:pt x="12700" y="125476"/>
                  </a:moveTo>
                  <a:lnTo>
                    <a:pt x="12700" y="525018"/>
                  </a:lnTo>
                  <a:lnTo>
                    <a:pt x="6350" y="525018"/>
                  </a:lnTo>
                  <a:lnTo>
                    <a:pt x="12700" y="525018"/>
                  </a:lnTo>
                  <a:cubicBezTo>
                    <a:pt x="12700" y="587248"/>
                    <a:pt x="63119" y="637794"/>
                    <a:pt x="125476" y="637794"/>
                  </a:cubicBezTo>
                  <a:lnTo>
                    <a:pt x="525018" y="637794"/>
                  </a:lnTo>
                  <a:cubicBezTo>
                    <a:pt x="587248" y="637794"/>
                    <a:pt x="637794" y="587375"/>
                    <a:pt x="637794" y="525018"/>
                  </a:cubicBezTo>
                  <a:lnTo>
                    <a:pt x="637794" y="125476"/>
                  </a:lnTo>
                  <a:cubicBezTo>
                    <a:pt x="637794" y="63246"/>
                    <a:pt x="587375" y="12700"/>
                    <a:pt x="525018" y="12700"/>
                  </a:cubicBezTo>
                  <a:lnTo>
                    <a:pt x="125476" y="12700"/>
                  </a:lnTo>
                  <a:lnTo>
                    <a:pt x="125476" y="6350"/>
                  </a:lnTo>
                  <a:lnTo>
                    <a:pt x="125476" y="12700"/>
                  </a:lnTo>
                  <a:cubicBezTo>
                    <a:pt x="63119" y="12700"/>
                    <a:pt x="12700" y="63119"/>
                    <a:pt x="12700" y="125476"/>
                  </a:cubicBezTo>
                  <a:close/>
                </a:path>
              </a:pathLst>
            </a:custGeom>
            <a:solidFill>
              <a:srgbClr val="B8BFDF"/>
            </a:solidFill>
          </p:spPr>
        </p:sp>
      </p:grpSp>
      <p:sp>
        <p:nvSpPr>
          <p:cNvPr name="TextBox 22" id="22"/>
          <p:cNvSpPr txBox="true"/>
          <p:nvPr/>
        </p:nvSpPr>
        <p:spPr>
          <a:xfrm rot="0">
            <a:off x="1071935" y="5574581"/>
            <a:ext cx="318939" cy="351085"/>
          </a:xfrm>
          <a:prstGeom prst="rect">
            <a:avLst/>
          </a:prstGeom>
        </p:spPr>
        <p:txBody>
          <a:bodyPr anchor="t" rtlCol="false" tIns="0" lIns="0" bIns="0" rIns="0">
            <a:spAutoFit/>
          </a:bodyPr>
          <a:lstStyle/>
          <a:p>
            <a:pPr algn="ctr">
              <a:lnSpc>
                <a:spcPts val="2499"/>
              </a:lnSpc>
            </a:pPr>
            <a:r>
              <a:rPr lang="en-US" sz="2499">
                <a:solidFill>
                  <a:srgbClr val="404155"/>
                </a:solidFill>
                <a:latin typeface="Corben"/>
                <a:ea typeface="Corben"/>
                <a:cs typeface="Corben"/>
                <a:sym typeface="Corben"/>
              </a:rPr>
              <a:t>3</a:t>
            </a:r>
          </a:p>
        </p:txBody>
      </p:sp>
      <p:sp>
        <p:nvSpPr>
          <p:cNvPr name="TextBox 23" id="23"/>
          <p:cNvSpPr txBox="true"/>
          <p:nvPr/>
        </p:nvSpPr>
        <p:spPr>
          <a:xfrm rot="0">
            <a:off x="1683097" y="5550694"/>
            <a:ext cx="2658070" cy="341709"/>
          </a:xfrm>
          <a:prstGeom prst="rect">
            <a:avLst/>
          </a:prstGeom>
        </p:spPr>
        <p:txBody>
          <a:bodyPr anchor="t" rtlCol="false" tIns="0" lIns="0" bIns="0" rIns="0">
            <a:spAutoFit/>
          </a:bodyPr>
          <a:lstStyle/>
          <a:p>
            <a:pPr algn="l">
              <a:lnSpc>
                <a:spcPts val="2562"/>
              </a:lnSpc>
            </a:pPr>
            <a:r>
              <a:rPr lang="en-US" sz="2062">
                <a:solidFill>
                  <a:srgbClr val="404155"/>
                </a:solidFill>
                <a:latin typeface="Corben"/>
                <a:ea typeface="Corben"/>
                <a:cs typeface="Corben"/>
                <a:sym typeface="Corben"/>
              </a:rPr>
              <a:t>Thermal Simulation</a:t>
            </a:r>
          </a:p>
        </p:txBody>
      </p:sp>
      <p:sp>
        <p:nvSpPr>
          <p:cNvPr name="TextBox 24" id="24"/>
          <p:cNvSpPr txBox="true"/>
          <p:nvPr/>
        </p:nvSpPr>
        <p:spPr>
          <a:xfrm rot="0">
            <a:off x="1683097" y="6019205"/>
            <a:ext cx="7201495" cy="766167"/>
          </a:xfrm>
          <a:prstGeom prst="rect">
            <a:avLst/>
          </a:prstGeom>
        </p:spPr>
        <p:txBody>
          <a:bodyPr anchor="t" rtlCol="false" tIns="0" lIns="0" bIns="0" rIns="0">
            <a:spAutoFit/>
          </a:bodyPr>
          <a:lstStyle/>
          <a:p>
            <a:pPr algn="l">
              <a:lnSpc>
                <a:spcPts val="2625"/>
              </a:lnSpc>
            </a:pPr>
            <a:r>
              <a:rPr lang="en-US" sz="1625">
                <a:solidFill>
                  <a:srgbClr val="404155"/>
                </a:solidFill>
                <a:latin typeface="Arimo"/>
                <a:ea typeface="Arimo"/>
                <a:cs typeface="Arimo"/>
                <a:sym typeface="Arimo"/>
              </a:rPr>
              <a:t>Simulate heat generation and analyze temperature distribution and rise under various load conditions.</a:t>
            </a:r>
          </a:p>
        </p:txBody>
      </p:sp>
      <p:grpSp>
        <p:nvGrpSpPr>
          <p:cNvPr name="Group 25" id="25"/>
          <p:cNvGrpSpPr/>
          <p:nvPr/>
        </p:nvGrpSpPr>
        <p:grpSpPr>
          <a:xfrm rot="0">
            <a:off x="10401895" y="2040285"/>
            <a:ext cx="5914281" cy="6658421"/>
            <a:chOff x="0" y="0"/>
            <a:chExt cx="7885708" cy="8877895"/>
          </a:xfrm>
        </p:grpSpPr>
        <p:sp>
          <p:nvSpPr>
            <p:cNvPr name="Freeform 26" id="26" descr="preencoded.png"/>
            <p:cNvSpPr/>
            <p:nvPr/>
          </p:nvSpPr>
          <p:spPr>
            <a:xfrm flipH="false" flipV="false" rot="0">
              <a:off x="0" y="0"/>
              <a:ext cx="7885684" cy="8877935"/>
            </a:xfrm>
            <a:custGeom>
              <a:avLst/>
              <a:gdLst/>
              <a:ahLst/>
              <a:cxnLst/>
              <a:rect r="r" b="b" t="t" l="l"/>
              <a:pathLst>
                <a:path h="8877935" w="7885684">
                  <a:moveTo>
                    <a:pt x="0" y="0"/>
                  </a:moveTo>
                  <a:lnTo>
                    <a:pt x="7885684" y="0"/>
                  </a:lnTo>
                  <a:lnTo>
                    <a:pt x="7885684" y="8877935"/>
                  </a:lnTo>
                  <a:lnTo>
                    <a:pt x="0" y="8877935"/>
                  </a:lnTo>
                  <a:lnTo>
                    <a:pt x="0" y="0"/>
                  </a:lnTo>
                  <a:close/>
                </a:path>
              </a:pathLst>
            </a:custGeom>
            <a:blipFill>
              <a:blip r:embed="rId3"/>
              <a:stretch>
                <a:fillRect l="-9" t="0" r="-9" b="0"/>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9FF">
                <a:alpha val="90196"/>
              </a:srgbClr>
            </a:solidFill>
          </p:spPr>
        </p:sp>
      </p:grpSp>
      <p:sp>
        <p:nvSpPr>
          <p:cNvPr name="TextBox 6" id="6"/>
          <p:cNvSpPr txBox="true"/>
          <p:nvPr/>
        </p:nvSpPr>
        <p:spPr>
          <a:xfrm rot="0">
            <a:off x="992238" y="800844"/>
            <a:ext cx="8907810" cy="727770"/>
          </a:xfrm>
          <a:prstGeom prst="rect">
            <a:avLst/>
          </a:prstGeom>
        </p:spPr>
        <p:txBody>
          <a:bodyPr anchor="t" rtlCol="false" tIns="0" lIns="0" bIns="0" rIns="0">
            <a:spAutoFit/>
          </a:bodyPr>
          <a:lstStyle/>
          <a:p>
            <a:pPr algn="l">
              <a:lnSpc>
                <a:spcPts val="5562"/>
              </a:lnSpc>
            </a:pPr>
            <a:r>
              <a:rPr lang="en-US" sz="4437">
                <a:solidFill>
                  <a:srgbClr val="1B1B27"/>
                </a:solidFill>
                <a:latin typeface="Corben"/>
                <a:ea typeface="Corben"/>
                <a:cs typeface="Corben"/>
                <a:sym typeface="Corben"/>
              </a:rPr>
              <a:t>Battery Pack Modeling Workflow</a:t>
            </a:r>
          </a:p>
        </p:txBody>
      </p:sp>
      <p:grpSp>
        <p:nvGrpSpPr>
          <p:cNvPr name="Group 7" id="7"/>
          <p:cNvGrpSpPr/>
          <p:nvPr/>
        </p:nvGrpSpPr>
        <p:grpSpPr>
          <a:xfrm rot="0">
            <a:off x="987475" y="1977479"/>
            <a:ext cx="236339" cy="1370410"/>
            <a:chOff x="0" y="0"/>
            <a:chExt cx="315118" cy="1827213"/>
          </a:xfrm>
        </p:grpSpPr>
        <p:sp>
          <p:nvSpPr>
            <p:cNvPr name="Freeform 8" id="8"/>
            <p:cNvSpPr/>
            <p:nvPr/>
          </p:nvSpPr>
          <p:spPr>
            <a:xfrm flipH="false" flipV="false" rot="0">
              <a:off x="6350" y="6350"/>
              <a:ext cx="302387" cy="1814576"/>
            </a:xfrm>
            <a:custGeom>
              <a:avLst/>
              <a:gdLst/>
              <a:ahLst/>
              <a:cxnLst/>
              <a:rect r="r" b="b" t="t" l="l"/>
              <a:pathLst>
                <a:path h="1814576" w="302387">
                  <a:moveTo>
                    <a:pt x="0" y="131445"/>
                  </a:moveTo>
                  <a:cubicBezTo>
                    <a:pt x="0" y="58801"/>
                    <a:pt x="56896" y="0"/>
                    <a:pt x="127000" y="0"/>
                  </a:cubicBezTo>
                  <a:lnTo>
                    <a:pt x="175387" y="0"/>
                  </a:lnTo>
                  <a:cubicBezTo>
                    <a:pt x="245491" y="0"/>
                    <a:pt x="302387" y="58801"/>
                    <a:pt x="302387" y="131445"/>
                  </a:cubicBezTo>
                  <a:lnTo>
                    <a:pt x="302387" y="1683131"/>
                  </a:lnTo>
                  <a:cubicBezTo>
                    <a:pt x="302387" y="1755775"/>
                    <a:pt x="245491" y="1814576"/>
                    <a:pt x="175387" y="1814576"/>
                  </a:cubicBezTo>
                  <a:lnTo>
                    <a:pt x="127000" y="1814576"/>
                  </a:lnTo>
                  <a:cubicBezTo>
                    <a:pt x="56896" y="1814576"/>
                    <a:pt x="0" y="1755775"/>
                    <a:pt x="0" y="1683131"/>
                  </a:cubicBezTo>
                  <a:close/>
                </a:path>
              </a:pathLst>
            </a:custGeom>
            <a:solidFill>
              <a:srgbClr val="D2D9F9"/>
            </a:solidFill>
          </p:spPr>
        </p:sp>
        <p:sp>
          <p:nvSpPr>
            <p:cNvPr name="Freeform 9" id="9"/>
            <p:cNvSpPr/>
            <p:nvPr/>
          </p:nvSpPr>
          <p:spPr>
            <a:xfrm flipH="false" flipV="false" rot="0">
              <a:off x="0" y="0"/>
              <a:ext cx="315087" cy="1827276"/>
            </a:xfrm>
            <a:custGeom>
              <a:avLst/>
              <a:gdLst/>
              <a:ahLst/>
              <a:cxnLst/>
              <a:rect r="r" b="b" t="t" l="l"/>
              <a:pathLst>
                <a:path h="1827276" w="315087">
                  <a:moveTo>
                    <a:pt x="0" y="137795"/>
                  </a:moveTo>
                  <a:cubicBezTo>
                    <a:pt x="0" y="61849"/>
                    <a:pt x="59563" y="0"/>
                    <a:pt x="133350" y="0"/>
                  </a:cubicBezTo>
                  <a:lnTo>
                    <a:pt x="181737" y="0"/>
                  </a:lnTo>
                  <a:lnTo>
                    <a:pt x="181737" y="6350"/>
                  </a:lnTo>
                  <a:lnTo>
                    <a:pt x="181737" y="0"/>
                  </a:lnTo>
                  <a:lnTo>
                    <a:pt x="181737" y="6350"/>
                  </a:lnTo>
                  <a:lnTo>
                    <a:pt x="181737" y="0"/>
                  </a:lnTo>
                  <a:cubicBezTo>
                    <a:pt x="255651" y="0"/>
                    <a:pt x="315087" y="61849"/>
                    <a:pt x="315087" y="137795"/>
                  </a:cubicBezTo>
                  <a:lnTo>
                    <a:pt x="315087" y="1689481"/>
                  </a:lnTo>
                  <a:lnTo>
                    <a:pt x="308737" y="1689481"/>
                  </a:lnTo>
                  <a:lnTo>
                    <a:pt x="315087" y="1689481"/>
                  </a:lnTo>
                  <a:cubicBezTo>
                    <a:pt x="315087" y="1765427"/>
                    <a:pt x="255524" y="1827276"/>
                    <a:pt x="181737" y="1827276"/>
                  </a:cubicBezTo>
                  <a:lnTo>
                    <a:pt x="181737" y="1820926"/>
                  </a:lnTo>
                  <a:lnTo>
                    <a:pt x="181737" y="1827276"/>
                  </a:lnTo>
                  <a:lnTo>
                    <a:pt x="133350" y="1827276"/>
                  </a:lnTo>
                  <a:lnTo>
                    <a:pt x="133350" y="1820926"/>
                  </a:lnTo>
                  <a:lnTo>
                    <a:pt x="133350" y="1827276"/>
                  </a:lnTo>
                  <a:cubicBezTo>
                    <a:pt x="59563" y="1827276"/>
                    <a:pt x="0" y="1765300"/>
                    <a:pt x="0" y="1689481"/>
                  </a:cubicBezTo>
                  <a:lnTo>
                    <a:pt x="0" y="137795"/>
                  </a:lnTo>
                  <a:lnTo>
                    <a:pt x="6350" y="137795"/>
                  </a:lnTo>
                  <a:lnTo>
                    <a:pt x="0" y="137795"/>
                  </a:lnTo>
                  <a:moveTo>
                    <a:pt x="12700" y="137795"/>
                  </a:moveTo>
                  <a:lnTo>
                    <a:pt x="12700" y="1689481"/>
                  </a:lnTo>
                  <a:lnTo>
                    <a:pt x="6350" y="1689481"/>
                  </a:lnTo>
                  <a:lnTo>
                    <a:pt x="12700" y="1689481"/>
                  </a:lnTo>
                  <a:cubicBezTo>
                    <a:pt x="12700" y="1758823"/>
                    <a:pt x="66929" y="1814576"/>
                    <a:pt x="133350" y="1814576"/>
                  </a:cubicBezTo>
                  <a:lnTo>
                    <a:pt x="181737" y="1814576"/>
                  </a:lnTo>
                  <a:cubicBezTo>
                    <a:pt x="248158" y="1814576"/>
                    <a:pt x="302387" y="1758823"/>
                    <a:pt x="302387" y="1689481"/>
                  </a:cubicBezTo>
                  <a:lnTo>
                    <a:pt x="302387" y="137795"/>
                  </a:lnTo>
                  <a:lnTo>
                    <a:pt x="308737" y="137795"/>
                  </a:lnTo>
                  <a:lnTo>
                    <a:pt x="302387" y="137795"/>
                  </a:lnTo>
                  <a:cubicBezTo>
                    <a:pt x="302387" y="68453"/>
                    <a:pt x="248158" y="12700"/>
                    <a:pt x="181737" y="12700"/>
                  </a:cubicBezTo>
                  <a:lnTo>
                    <a:pt x="133350" y="12700"/>
                  </a:lnTo>
                  <a:lnTo>
                    <a:pt x="133350" y="6350"/>
                  </a:lnTo>
                  <a:lnTo>
                    <a:pt x="133350" y="12700"/>
                  </a:lnTo>
                  <a:cubicBezTo>
                    <a:pt x="66929" y="12700"/>
                    <a:pt x="12700" y="68453"/>
                    <a:pt x="12700" y="137795"/>
                  </a:cubicBezTo>
                  <a:close/>
                </a:path>
              </a:pathLst>
            </a:custGeom>
            <a:solidFill>
              <a:srgbClr val="B8BFDF"/>
            </a:solidFill>
          </p:spPr>
        </p:sp>
      </p:grpSp>
      <p:sp>
        <p:nvSpPr>
          <p:cNvPr name="TextBox 10" id="10"/>
          <p:cNvSpPr txBox="true"/>
          <p:nvPr/>
        </p:nvSpPr>
        <p:spPr>
          <a:xfrm rot="0">
            <a:off x="1445865" y="2199531"/>
            <a:ext cx="2959448" cy="363885"/>
          </a:xfrm>
          <a:prstGeom prst="rect">
            <a:avLst/>
          </a:prstGeom>
        </p:spPr>
        <p:txBody>
          <a:bodyPr anchor="t" rtlCol="false" tIns="0" lIns="0" bIns="0" rIns="0">
            <a:spAutoFit/>
          </a:bodyPr>
          <a:lstStyle/>
          <a:p>
            <a:pPr algn="l">
              <a:lnSpc>
                <a:spcPts val="2750"/>
              </a:lnSpc>
            </a:pPr>
            <a:r>
              <a:rPr lang="en-US" sz="2187">
                <a:solidFill>
                  <a:srgbClr val="404155"/>
                </a:solidFill>
                <a:latin typeface="Corben"/>
                <a:ea typeface="Corben"/>
                <a:cs typeface="Corben"/>
                <a:sym typeface="Corben"/>
              </a:rPr>
              <a:t>1. Pouch Cell Geometry</a:t>
            </a:r>
          </a:p>
        </p:txBody>
      </p:sp>
      <p:sp>
        <p:nvSpPr>
          <p:cNvPr name="TextBox 11" id="11"/>
          <p:cNvSpPr txBox="true"/>
          <p:nvPr/>
        </p:nvSpPr>
        <p:spPr>
          <a:xfrm rot="0">
            <a:off x="1445865" y="2604195"/>
            <a:ext cx="15849897" cy="458093"/>
          </a:xfrm>
          <a:prstGeom prst="rect">
            <a:avLst/>
          </a:prstGeom>
        </p:spPr>
        <p:txBody>
          <a:bodyPr anchor="t" rtlCol="false" tIns="0" lIns="0" bIns="0" rIns="0">
            <a:spAutoFit/>
          </a:bodyPr>
          <a:lstStyle/>
          <a:p>
            <a:pPr algn="l">
              <a:lnSpc>
                <a:spcPts val="2812"/>
              </a:lnSpc>
            </a:pPr>
            <a:r>
              <a:rPr lang="en-US" sz="1750">
                <a:solidFill>
                  <a:srgbClr val="404155"/>
                </a:solidFill>
                <a:latin typeface="Arimo"/>
                <a:ea typeface="Arimo"/>
                <a:cs typeface="Arimo"/>
                <a:sym typeface="Arimo"/>
              </a:rPr>
              <a:t>Define the physical dimensions and characteristics of a single pouch cell.</a:t>
            </a:r>
          </a:p>
        </p:txBody>
      </p:sp>
      <p:grpSp>
        <p:nvGrpSpPr>
          <p:cNvPr name="Group 12" id="12"/>
          <p:cNvGrpSpPr/>
          <p:nvPr/>
        </p:nvGrpSpPr>
        <p:grpSpPr>
          <a:xfrm rot="0">
            <a:off x="1327696" y="3508474"/>
            <a:ext cx="236339" cy="1370410"/>
            <a:chOff x="0" y="0"/>
            <a:chExt cx="315118" cy="1827213"/>
          </a:xfrm>
        </p:grpSpPr>
        <p:sp>
          <p:nvSpPr>
            <p:cNvPr name="Freeform 13" id="13"/>
            <p:cNvSpPr/>
            <p:nvPr/>
          </p:nvSpPr>
          <p:spPr>
            <a:xfrm flipH="false" flipV="false" rot="0">
              <a:off x="6350" y="6350"/>
              <a:ext cx="302387" cy="1814576"/>
            </a:xfrm>
            <a:custGeom>
              <a:avLst/>
              <a:gdLst/>
              <a:ahLst/>
              <a:cxnLst/>
              <a:rect r="r" b="b" t="t" l="l"/>
              <a:pathLst>
                <a:path h="1814576" w="302387">
                  <a:moveTo>
                    <a:pt x="0" y="131445"/>
                  </a:moveTo>
                  <a:cubicBezTo>
                    <a:pt x="0" y="58801"/>
                    <a:pt x="56896" y="0"/>
                    <a:pt x="127000" y="0"/>
                  </a:cubicBezTo>
                  <a:lnTo>
                    <a:pt x="175387" y="0"/>
                  </a:lnTo>
                  <a:cubicBezTo>
                    <a:pt x="245491" y="0"/>
                    <a:pt x="302387" y="58801"/>
                    <a:pt x="302387" y="131445"/>
                  </a:cubicBezTo>
                  <a:lnTo>
                    <a:pt x="302387" y="1683131"/>
                  </a:lnTo>
                  <a:cubicBezTo>
                    <a:pt x="302387" y="1755775"/>
                    <a:pt x="245491" y="1814576"/>
                    <a:pt x="175387" y="1814576"/>
                  </a:cubicBezTo>
                  <a:lnTo>
                    <a:pt x="127000" y="1814576"/>
                  </a:lnTo>
                  <a:cubicBezTo>
                    <a:pt x="56896" y="1814576"/>
                    <a:pt x="0" y="1755775"/>
                    <a:pt x="0" y="1683131"/>
                  </a:cubicBezTo>
                  <a:close/>
                </a:path>
              </a:pathLst>
            </a:custGeom>
            <a:solidFill>
              <a:srgbClr val="D2D9F9"/>
            </a:solidFill>
          </p:spPr>
        </p:sp>
        <p:sp>
          <p:nvSpPr>
            <p:cNvPr name="Freeform 14" id="14"/>
            <p:cNvSpPr/>
            <p:nvPr/>
          </p:nvSpPr>
          <p:spPr>
            <a:xfrm flipH="false" flipV="false" rot="0">
              <a:off x="0" y="0"/>
              <a:ext cx="315087" cy="1827276"/>
            </a:xfrm>
            <a:custGeom>
              <a:avLst/>
              <a:gdLst/>
              <a:ahLst/>
              <a:cxnLst/>
              <a:rect r="r" b="b" t="t" l="l"/>
              <a:pathLst>
                <a:path h="1827276" w="315087">
                  <a:moveTo>
                    <a:pt x="0" y="137795"/>
                  </a:moveTo>
                  <a:cubicBezTo>
                    <a:pt x="0" y="61849"/>
                    <a:pt x="59563" y="0"/>
                    <a:pt x="133350" y="0"/>
                  </a:cubicBezTo>
                  <a:lnTo>
                    <a:pt x="181737" y="0"/>
                  </a:lnTo>
                  <a:lnTo>
                    <a:pt x="181737" y="6350"/>
                  </a:lnTo>
                  <a:lnTo>
                    <a:pt x="181737" y="0"/>
                  </a:lnTo>
                  <a:lnTo>
                    <a:pt x="181737" y="6350"/>
                  </a:lnTo>
                  <a:lnTo>
                    <a:pt x="181737" y="0"/>
                  </a:lnTo>
                  <a:cubicBezTo>
                    <a:pt x="255651" y="0"/>
                    <a:pt x="315087" y="61849"/>
                    <a:pt x="315087" y="137795"/>
                  </a:cubicBezTo>
                  <a:lnTo>
                    <a:pt x="315087" y="1689481"/>
                  </a:lnTo>
                  <a:lnTo>
                    <a:pt x="308737" y="1689481"/>
                  </a:lnTo>
                  <a:lnTo>
                    <a:pt x="315087" y="1689481"/>
                  </a:lnTo>
                  <a:cubicBezTo>
                    <a:pt x="315087" y="1765427"/>
                    <a:pt x="255524" y="1827276"/>
                    <a:pt x="181737" y="1827276"/>
                  </a:cubicBezTo>
                  <a:lnTo>
                    <a:pt x="181737" y="1820926"/>
                  </a:lnTo>
                  <a:lnTo>
                    <a:pt x="181737" y="1827276"/>
                  </a:lnTo>
                  <a:lnTo>
                    <a:pt x="133350" y="1827276"/>
                  </a:lnTo>
                  <a:lnTo>
                    <a:pt x="133350" y="1820926"/>
                  </a:lnTo>
                  <a:lnTo>
                    <a:pt x="133350" y="1827276"/>
                  </a:lnTo>
                  <a:cubicBezTo>
                    <a:pt x="59563" y="1827276"/>
                    <a:pt x="0" y="1765300"/>
                    <a:pt x="0" y="1689481"/>
                  </a:cubicBezTo>
                  <a:lnTo>
                    <a:pt x="0" y="137795"/>
                  </a:lnTo>
                  <a:lnTo>
                    <a:pt x="6350" y="137795"/>
                  </a:lnTo>
                  <a:lnTo>
                    <a:pt x="0" y="137795"/>
                  </a:lnTo>
                  <a:moveTo>
                    <a:pt x="12700" y="137795"/>
                  </a:moveTo>
                  <a:lnTo>
                    <a:pt x="12700" y="1689481"/>
                  </a:lnTo>
                  <a:lnTo>
                    <a:pt x="6350" y="1689481"/>
                  </a:lnTo>
                  <a:lnTo>
                    <a:pt x="12700" y="1689481"/>
                  </a:lnTo>
                  <a:cubicBezTo>
                    <a:pt x="12700" y="1758823"/>
                    <a:pt x="66929" y="1814576"/>
                    <a:pt x="133350" y="1814576"/>
                  </a:cubicBezTo>
                  <a:lnTo>
                    <a:pt x="181737" y="1814576"/>
                  </a:lnTo>
                  <a:cubicBezTo>
                    <a:pt x="248158" y="1814576"/>
                    <a:pt x="302387" y="1758823"/>
                    <a:pt x="302387" y="1689481"/>
                  </a:cubicBezTo>
                  <a:lnTo>
                    <a:pt x="302387" y="137795"/>
                  </a:lnTo>
                  <a:lnTo>
                    <a:pt x="308737" y="137795"/>
                  </a:lnTo>
                  <a:lnTo>
                    <a:pt x="302387" y="137795"/>
                  </a:lnTo>
                  <a:cubicBezTo>
                    <a:pt x="302387" y="68453"/>
                    <a:pt x="248158" y="12700"/>
                    <a:pt x="181737" y="12700"/>
                  </a:cubicBezTo>
                  <a:lnTo>
                    <a:pt x="133350" y="12700"/>
                  </a:lnTo>
                  <a:lnTo>
                    <a:pt x="133350" y="6350"/>
                  </a:lnTo>
                  <a:lnTo>
                    <a:pt x="133350" y="12700"/>
                  </a:lnTo>
                  <a:cubicBezTo>
                    <a:pt x="66929" y="12700"/>
                    <a:pt x="12700" y="68453"/>
                    <a:pt x="12700" y="137795"/>
                  </a:cubicBezTo>
                  <a:close/>
                </a:path>
              </a:pathLst>
            </a:custGeom>
            <a:solidFill>
              <a:srgbClr val="B8BFDF"/>
            </a:solidFill>
          </p:spPr>
        </p:sp>
      </p:grpSp>
      <p:sp>
        <p:nvSpPr>
          <p:cNvPr name="TextBox 15" id="15"/>
          <p:cNvSpPr txBox="true"/>
          <p:nvPr/>
        </p:nvSpPr>
        <p:spPr>
          <a:xfrm rot="0">
            <a:off x="1786086" y="3730526"/>
            <a:ext cx="2835325" cy="363885"/>
          </a:xfrm>
          <a:prstGeom prst="rect">
            <a:avLst/>
          </a:prstGeom>
        </p:spPr>
        <p:txBody>
          <a:bodyPr anchor="t" rtlCol="false" tIns="0" lIns="0" bIns="0" rIns="0">
            <a:spAutoFit/>
          </a:bodyPr>
          <a:lstStyle/>
          <a:p>
            <a:pPr algn="l">
              <a:lnSpc>
                <a:spcPts val="2750"/>
              </a:lnSpc>
            </a:pPr>
            <a:r>
              <a:rPr lang="en-US" sz="2187">
                <a:solidFill>
                  <a:srgbClr val="404155"/>
                </a:solidFill>
                <a:latin typeface="Corben"/>
                <a:ea typeface="Corben"/>
                <a:cs typeface="Corben"/>
                <a:sym typeface="Corben"/>
              </a:rPr>
              <a:t>2. Parallel Assembly</a:t>
            </a:r>
          </a:p>
        </p:txBody>
      </p:sp>
      <p:sp>
        <p:nvSpPr>
          <p:cNvPr name="TextBox 16" id="16"/>
          <p:cNvSpPr txBox="true"/>
          <p:nvPr/>
        </p:nvSpPr>
        <p:spPr>
          <a:xfrm rot="0">
            <a:off x="1786086" y="4135190"/>
            <a:ext cx="15509676" cy="458093"/>
          </a:xfrm>
          <a:prstGeom prst="rect">
            <a:avLst/>
          </a:prstGeom>
        </p:spPr>
        <p:txBody>
          <a:bodyPr anchor="t" rtlCol="false" tIns="0" lIns="0" bIns="0" rIns="0">
            <a:spAutoFit/>
          </a:bodyPr>
          <a:lstStyle/>
          <a:p>
            <a:pPr algn="l">
              <a:lnSpc>
                <a:spcPts val="2812"/>
              </a:lnSpc>
            </a:pPr>
            <a:r>
              <a:rPr lang="en-US" sz="1750">
                <a:solidFill>
                  <a:srgbClr val="404155"/>
                </a:solidFill>
                <a:latin typeface="Arimo"/>
                <a:ea typeface="Arimo"/>
                <a:cs typeface="Arimo"/>
                <a:sym typeface="Arimo"/>
              </a:rPr>
              <a:t>Combine multiple pouch cells in parallel to achieve desired current capacity.</a:t>
            </a:r>
          </a:p>
        </p:txBody>
      </p:sp>
      <p:grpSp>
        <p:nvGrpSpPr>
          <p:cNvPr name="Group 17" id="17"/>
          <p:cNvGrpSpPr/>
          <p:nvPr/>
        </p:nvGrpSpPr>
        <p:grpSpPr>
          <a:xfrm rot="0">
            <a:off x="1667916" y="5039469"/>
            <a:ext cx="236339" cy="1370410"/>
            <a:chOff x="0" y="0"/>
            <a:chExt cx="315118" cy="1827213"/>
          </a:xfrm>
        </p:grpSpPr>
        <p:sp>
          <p:nvSpPr>
            <p:cNvPr name="Freeform 18" id="18"/>
            <p:cNvSpPr/>
            <p:nvPr/>
          </p:nvSpPr>
          <p:spPr>
            <a:xfrm flipH="false" flipV="false" rot="0">
              <a:off x="6350" y="6350"/>
              <a:ext cx="302387" cy="1814576"/>
            </a:xfrm>
            <a:custGeom>
              <a:avLst/>
              <a:gdLst/>
              <a:ahLst/>
              <a:cxnLst/>
              <a:rect r="r" b="b" t="t" l="l"/>
              <a:pathLst>
                <a:path h="1814576" w="302387">
                  <a:moveTo>
                    <a:pt x="0" y="131445"/>
                  </a:moveTo>
                  <a:cubicBezTo>
                    <a:pt x="0" y="58801"/>
                    <a:pt x="56896" y="0"/>
                    <a:pt x="127000" y="0"/>
                  </a:cubicBezTo>
                  <a:lnTo>
                    <a:pt x="175387" y="0"/>
                  </a:lnTo>
                  <a:cubicBezTo>
                    <a:pt x="245491" y="0"/>
                    <a:pt x="302387" y="58801"/>
                    <a:pt x="302387" y="131445"/>
                  </a:cubicBezTo>
                  <a:lnTo>
                    <a:pt x="302387" y="1683131"/>
                  </a:lnTo>
                  <a:cubicBezTo>
                    <a:pt x="302387" y="1755775"/>
                    <a:pt x="245491" y="1814576"/>
                    <a:pt x="175387" y="1814576"/>
                  </a:cubicBezTo>
                  <a:lnTo>
                    <a:pt x="127000" y="1814576"/>
                  </a:lnTo>
                  <a:cubicBezTo>
                    <a:pt x="56896" y="1814576"/>
                    <a:pt x="0" y="1755775"/>
                    <a:pt x="0" y="1683131"/>
                  </a:cubicBezTo>
                  <a:close/>
                </a:path>
              </a:pathLst>
            </a:custGeom>
            <a:solidFill>
              <a:srgbClr val="D2D9F9"/>
            </a:solidFill>
          </p:spPr>
        </p:sp>
        <p:sp>
          <p:nvSpPr>
            <p:cNvPr name="Freeform 19" id="19"/>
            <p:cNvSpPr/>
            <p:nvPr/>
          </p:nvSpPr>
          <p:spPr>
            <a:xfrm flipH="false" flipV="false" rot="0">
              <a:off x="0" y="0"/>
              <a:ext cx="315087" cy="1827276"/>
            </a:xfrm>
            <a:custGeom>
              <a:avLst/>
              <a:gdLst/>
              <a:ahLst/>
              <a:cxnLst/>
              <a:rect r="r" b="b" t="t" l="l"/>
              <a:pathLst>
                <a:path h="1827276" w="315087">
                  <a:moveTo>
                    <a:pt x="0" y="137795"/>
                  </a:moveTo>
                  <a:cubicBezTo>
                    <a:pt x="0" y="61849"/>
                    <a:pt x="59563" y="0"/>
                    <a:pt x="133350" y="0"/>
                  </a:cubicBezTo>
                  <a:lnTo>
                    <a:pt x="181737" y="0"/>
                  </a:lnTo>
                  <a:lnTo>
                    <a:pt x="181737" y="6350"/>
                  </a:lnTo>
                  <a:lnTo>
                    <a:pt x="181737" y="0"/>
                  </a:lnTo>
                  <a:lnTo>
                    <a:pt x="181737" y="6350"/>
                  </a:lnTo>
                  <a:lnTo>
                    <a:pt x="181737" y="0"/>
                  </a:lnTo>
                  <a:cubicBezTo>
                    <a:pt x="255651" y="0"/>
                    <a:pt x="315087" y="61849"/>
                    <a:pt x="315087" y="137795"/>
                  </a:cubicBezTo>
                  <a:lnTo>
                    <a:pt x="315087" y="1689481"/>
                  </a:lnTo>
                  <a:lnTo>
                    <a:pt x="308737" y="1689481"/>
                  </a:lnTo>
                  <a:lnTo>
                    <a:pt x="315087" y="1689481"/>
                  </a:lnTo>
                  <a:cubicBezTo>
                    <a:pt x="315087" y="1765427"/>
                    <a:pt x="255524" y="1827276"/>
                    <a:pt x="181737" y="1827276"/>
                  </a:cubicBezTo>
                  <a:lnTo>
                    <a:pt x="181737" y="1820926"/>
                  </a:lnTo>
                  <a:lnTo>
                    <a:pt x="181737" y="1827276"/>
                  </a:lnTo>
                  <a:lnTo>
                    <a:pt x="133350" y="1827276"/>
                  </a:lnTo>
                  <a:lnTo>
                    <a:pt x="133350" y="1820926"/>
                  </a:lnTo>
                  <a:lnTo>
                    <a:pt x="133350" y="1827276"/>
                  </a:lnTo>
                  <a:cubicBezTo>
                    <a:pt x="59563" y="1827276"/>
                    <a:pt x="0" y="1765300"/>
                    <a:pt x="0" y="1689481"/>
                  </a:cubicBezTo>
                  <a:lnTo>
                    <a:pt x="0" y="137795"/>
                  </a:lnTo>
                  <a:lnTo>
                    <a:pt x="6350" y="137795"/>
                  </a:lnTo>
                  <a:lnTo>
                    <a:pt x="0" y="137795"/>
                  </a:lnTo>
                  <a:moveTo>
                    <a:pt x="12700" y="137795"/>
                  </a:moveTo>
                  <a:lnTo>
                    <a:pt x="12700" y="1689481"/>
                  </a:lnTo>
                  <a:lnTo>
                    <a:pt x="6350" y="1689481"/>
                  </a:lnTo>
                  <a:lnTo>
                    <a:pt x="12700" y="1689481"/>
                  </a:lnTo>
                  <a:cubicBezTo>
                    <a:pt x="12700" y="1758823"/>
                    <a:pt x="66929" y="1814576"/>
                    <a:pt x="133350" y="1814576"/>
                  </a:cubicBezTo>
                  <a:lnTo>
                    <a:pt x="181737" y="1814576"/>
                  </a:lnTo>
                  <a:cubicBezTo>
                    <a:pt x="248158" y="1814576"/>
                    <a:pt x="302387" y="1758823"/>
                    <a:pt x="302387" y="1689481"/>
                  </a:cubicBezTo>
                  <a:lnTo>
                    <a:pt x="302387" y="137795"/>
                  </a:lnTo>
                  <a:lnTo>
                    <a:pt x="308737" y="137795"/>
                  </a:lnTo>
                  <a:lnTo>
                    <a:pt x="302387" y="137795"/>
                  </a:lnTo>
                  <a:cubicBezTo>
                    <a:pt x="302387" y="68453"/>
                    <a:pt x="248158" y="12700"/>
                    <a:pt x="181737" y="12700"/>
                  </a:cubicBezTo>
                  <a:lnTo>
                    <a:pt x="133350" y="12700"/>
                  </a:lnTo>
                  <a:lnTo>
                    <a:pt x="133350" y="6350"/>
                  </a:lnTo>
                  <a:lnTo>
                    <a:pt x="133350" y="12700"/>
                  </a:lnTo>
                  <a:cubicBezTo>
                    <a:pt x="66929" y="12700"/>
                    <a:pt x="12700" y="68453"/>
                    <a:pt x="12700" y="137795"/>
                  </a:cubicBezTo>
                  <a:close/>
                </a:path>
              </a:pathLst>
            </a:custGeom>
            <a:solidFill>
              <a:srgbClr val="B8BFDF"/>
            </a:solidFill>
          </p:spPr>
        </p:sp>
      </p:grpSp>
      <p:sp>
        <p:nvSpPr>
          <p:cNvPr name="TextBox 20" id="20"/>
          <p:cNvSpPr txBox="true"/>
          <p:nvPr/>
        </p:nvSpPr>
        <p:spPr>
          <a:xfrm rot="0">
            <a:off x="2126307" y="5261521"/>
            <a:ext cx="3087141" cy="363885"/>
          </a:xfrm>
          <a:prstGeom prst="rect">
            <a:avLst/>
          </a:prstGeom>
        </p:spPr>
        <p:txBody>
          <a:bodyPr anchor="t" rtlCol="false" tIns="0" lIns="0" bIns="0" rIns="0">
            <a:spAutoFit/>
          </a:bodyPr>
          <a:lstStyle/>
          <a:p>
            <a:pPr algn="l">
              <a:lnSpc>
                <a:spcPts val="2750"/>
              </a:lnSpc>
            </a:pPr>
            <a:r>
              <a:rPr lang="en-US" sz="2187">
                <a:solidFill>
                  <a:srgbClr val="404155"/>
                </a:solidFill>
                <a:latin typeface="Corben"/>
                <a:ea typeface="Corben"/>
                <a:cs typeface="Corben"/>
                <a:sym typeface="Corben"/>
              </a:rPr>
              <a:t>3. Module Construction</a:t>
            </a:r>
          </a:p>
        </p:txBody>
      </p:sp>
      <p:sp>
        <p:nvSpPr>
          <p:cNvPr name="TextBox 21" id="21"/>
          <p:cNvSpPr txBox="true"/>
          <p:nvPr/>
        </p:nvSpPr>
        <p:spPr>
          <a:xfrm rot="0">
            <a:off x="2126307" y="5666185"/>
            <a:ext cx="15169455" cy="458092"/>
          </a:xfrm>
          <a:prstGeom prst="rect">
            <a:avLst/>
          </a:prstGeom>
        </p:spPr>
        <p:txBody>
          <a:bodyPr anchor="t" rtlCol="false" tIns="0" lIns="0" bIns="0" rIns="0">
            <a:spAutoFit/>
          </a:bodyPr>
          <a:lstStyle/>
          <a:p>
            <a:pPr algn="l">
              <a:lnSpc>
                <a:spcPts val="2812"/>
              </a:lnSpc>
            </a:pPr>
            <a:r>
              <a:rPr lang="en-US" sz="1750">
                <a:solidFill>
                  <a:srgbClr val="404155"/>
                </a:solidFill>
                <a:latin typeface="Arimo"/>
                <a:ea typeface="Arimo"/>
                <a:cs typeface="Arimo"/>
                <a:sym typeface="Arimo"/>
              </a:rPr>
              <a:t>Build battery modules from series-connected parallel assemblies.</a:t>
            </a:r>
          </a:p>
        </p:txBody>
      </p:sp>
      <p:grpSp>
        <p:nvGrpSpPr>
          <p:cNvPr name="Group 22" id="22"/>
          <p:cNvGrpSpPr/>
          <p:nvPr/>
        </p:nvGrpSpPr>
        <p:grpSpPr>
          <a:xfrm rot="0">
            <a:off x="2008138" y="6570464"/>
            <a:ext cx="236339" cy="1370410"/>
            <a:chOff x="0" y="0"/>
            <a:chExt cx="315118" cy="1827213"/>
          </a:xfrm>
        </p:grpSpPr>
        <p:sp>
          <p:nvSpPr>
            <p:cNvPr name="Freeform 23" id="23"/>
            <p:cNvSpPr/>
            <p:nvPr/>
          </p:nvSpPr>
          <p:spPr>
            <a:xfrm flipH="false" flipV="false" rot="0">
              <a:off x="6350" y="6350"/>
              <a:ext cx="302387" cy="1814576"/>
            </a:xfrm>
            <a:custGeom>
              <a:avLst/>
              <a:gdLst/>
              <a:ahLst/>
              <a:cxnLst/>
              <a:rect r="r" b="b" t="t" l="l"/>
              <a:pathLst>
                <a:path h="1814576" w="302387">
                  <a:moveTo>
                    <a:pt x="0" y="131445"/>
                  </a:moveTo>
                  <a:cubicBezTo>
                    <a:pt x="0" y="58801"/>
                    <a:pt x="56896" y="0"/>
                    <a:pt x="127000" y="0"/>
                  </a:cubicBezTo>
                  <a:lnTo>
                    <a:pt x="175387" y="0"/>
                  </a:lnTo>
                  <a:cubicBezTo>
                    <a:pt x="245491" y="0"/>
                    <a:pt x="302387" y="58801"/>
                    <a:pt x="302387" y="131445"/>
                  </a:cubicBezTo>
                  <a:lnTo>
                    <a:pt x="302387" y="1683131"/>
                  </a:lnTo>
                  <a:cubicBezTo>
                    <a:pt x="302387" y="1755775"/>
                    <a:pt x="245491" y="1814576"/>
                    <a:pt x="175387" y="1814576"/>
                  </a:cubicBezTo>
                  <a:lnTo>
                    <a:pt x="127000" y="1814576"/>
                  </a:lnTo>
                  <a:cubicBezTo>
                    <a:pt x="56896" y="1814576"/>
                    <a:pt x="0" y="1755775"/>
                    <a:pt x="0" y="1683131"/>
                  </a:cubicBezTo>
                  <a:close/>
                </a:path>
              </a:pathLst>
            </a:custGeom>
            <a:solidFill>
              <a:srgbClr val="D2D9F9"/>
            </a:solidFill>
          </p:spPr>
        </p:sp>
        <p:sp>
          <p:nvSpPr>
            <p:cNvPr name="Freeform 24" id="24"/>
            <p:cNvSpPr/>
            <p:nvPr/>
          </p:nvSpPr>
          <p:spPr>
            <a:xfrm flipH="false" flipV="false" rot="0">
              <a:off x="0" y="0"/>
              <a:ext cx="315087" cy="1827276"/>
            </a:xfrm>
            <a:custGeom>
              <a:avLst/>
              <a:gdLst/>
              <a:ahLst/>
              <a:cxnLst/>
              <a:rect r="r" b="b" t="t" l="l"/>
              <a:pathLst>
                <a:path h="1827276" w="315087">
                  <a:moveTo>
                    <a:pt x="0" y="137795"/>
                  </a:moveTo>
                  <a:cubicBezTo>
                    <a:pt x="0" y="61849"/>
                    <a:pt x="59563" y="0"/>
                    <a:pt x="133350" y="0"/>
                  </a:cubicBezTo>
                  <a:lnTo>
                    <a:pt x="181737" y="0"/>
                  </a:lnTo>
                  <a:lnTo>
                    <a:pt x="181737" y="6350"/>
                  </a:lnTo>
                  <a:lnTo>
                    <a:pt x="181737" y="0"/>
                  </a:lnTo>
                  <a:lnTo>
                    <a:pt x="181737" y="6350"/>
                  </a:lnTo>
                  <a:lnTo>
                    <a:pt x="181737" y="0"/>
                  </a:lnTo>
                  <a:cubicBezTo>
                    <a:pt x="255651" y="0"/>
                    <a:pt x="315087" y="61849"/>
                    <a:pt x="315087" y="137795"/>
                  </a:cubicBezTo>
                  <a:lnTo>
                    <a:pt x="315087" y="1689481"/>
                  </a:lnTo>
                  <a:lnTo>
                    <a:pt x="308737" y="1689481"/>
                  </a:lnTo>
                  <a:lnTo>
                    <a:pt x="315087" y="1689481"/>
                  </a:lnTo>
                  <a:cubicBezTo>
                    <a:pt x="315087" y="1765427"/>
                    <a:pt x="255524" y="1827276"/>
                    <a:pt x="181737" y="1827276"/>
                  </a:cubicBezTo>
                  <a:lnTo>
                    <a:pt x="181737" y="1820926"/>
                  </a:lnTo>
                  <a:lnTo>
                    <a:pt x="181737" y="1827276"/>
                  </a:lnTo>
                  <a:lnTo>
                    <a:pt x="133350" y="1827276"/>
                  </a:lnTo>
                  <a:lnTo>
                    <a:pt x="133350" y="1820926"/>
                  </a:lnTo>
                  <a:lnTo>
                    <a:pt x="133350" y="1827276"/>
                  </a:lnTo>
                  <a:cubicBezTo>
                    <a:pt x="59563" y="1827276"/>
                    <a:pt x="0" y="1765300"/>
                    <a:pt x="0" y="1689481"/>
                  </a:cubicBezTo>
                  <a:lnTo>
                    <a:pt x="0" y="137795"/>
                  </a:lnTo>
                  <a:lnTo>
                    <a:pt x="6350" y="137795"/>
                  </a:lnTo>
                  <a:lnTo>
                    <a:pt x="0" y="137795"/>
                  </a:lnTo>
                  <a:moveTo>
                    <a:pt x="12700" y="137795"/>
                  </a:moveTo>
                  <a:lnTo>
                    <a:pt x="12700" y="1689481"/>
                  </a:lnTo>
                  <a:lnTo>
                    <a:pt x="6350" y="1689481"/>
                  </a:lnTo>
                  <a:lnTo>
                    <a:pt x="12700" y="1689481"/>
                  </a:lnTo>
                  <a:cubicBezTo>
                    <a:pt x="12700" y="1758823"/>
                    <a:pt x="66929" y="1814576"/>
                    <a:pt x="133350" y="1814576"/>
                  </a:cubicBezTo>
                  <a:lnTo>
                    <a:pt x="181737" y="1814576"/>
                  </a:lnTo>
                  <a:cubicBezTo>
                    <a:pt x="248158" y="1814576"/>
                    <a:pt x="302387" y="1758823"/>
                    <a:pt x="302387" y="1689481"/>
                  </a:cubicBezTo>
                  <a:lnTo>
                    <a:pt x="302387" y="137795"/>
                  </a:lnTo>
                  <a:lnTo>
                    <a:pt x="308737" y="137795"/>
                  </a:lnTo>
                  <a:lnTo>
                    <a:pt x="302387" y="137795"/>
                  </a:lnTo>
                  <a:cubicBezTo>
                    <a:pt x="302387" y="68453"/>
                    <a:pt x="248158" y="12700"/>
                    <a:pt x="181737" y="12700"/>
                  </a:cubicBezTo>
                  <a:lnTo>
                    <a:pt x="133350" y="12700"/>
                  </a:lnTo>
                  <a:lnTo>
                    <a:pt x="133350" y="6350"/>
                  </a:lnTo>
                  <a:lnTo>
                    <a:pt x="133350" y="12700"/>
                  </a:lnTo>
                  <a:cubicBezTo>
                    <a:pt x="66929" y="12700"/>
                    <a:pt x="12700" y="68453"/>
                    <a:pt x="12700" y="137795"/>
                  </a:cubicBezTo>
                  <a:close/>
                </a:path>
              </a:pathLst>
            </a:custGeom>
            <a:solidFill>
              <a:srgbClr val="B8BFDF"/>
            </a:solidFill>
          </p:spPr>
        </p:sp>
      </p:grpSp>
      <p:sp>
        <p:nvSpPr>
          <p:cNvPr name="TextBox 25" id="25"/>
          <p:cNvSpPr txBox="true"/>
          <p:nvPr/>
        </p:nvSpPr>
        <p:spPr>
          <a:xfrm rot="0">
            <a:off x="2466529" y="6792516"/>
            <a:ext cx="3905250" cy="363885"/>
          </a:xfrm>
          <a:prstGeom prst="rect">
            <a:avLst/>
          </a:prstGeom>
        </p:spPr>
        <p:txBody>
          <a:bodyPr anchor="t" rtlCol="false" tIns="0" lIns="0" bIns="0" rIns="0">
            <a:spAutoFit/>
          </a:bodyPr>
          <a:lstStyle/>
          <a:p>
            <a:pPr algn="l">
              <a:lnSpc>
                <a:spcPts val="2750"/>
              </a:lnSpc>
            </a:pPr>
            <a:r>
              <a:rPr lang="en-US" sz="2187">
                <a:solidFill>
                  <a:srgbClr val="404155"/>
                </a:solidFill>
                <a:latin typeface="Corben"/>
                <a:ea typeface="Corben"/>
                <a:cs typeface="Corben"/>
                <a:sym typeface="Corben"/>
              </a:rPr>
              <a:t>4. Full Battery Pack Assembly</a:t>
            </a:r>
          </a:p>
        </p:txBody>
      </p:sp>
      <p:sp>
        <p:nvSpPr>
          <p:cNvPr name="TextBox 26" id="26"/>
          <p:cNvSpPr txBox="true"/>
          <p:nvPr/>
        </p:nvSpPr>
        <p:spPr>
          <a:xfrm rot="0">
            <a:off x="2466529" y="7197179"/>
            <a:ext cx="14829234" cy="458092"/>
          </a:xfrm>
          <a:prstGeom prst="rect">
            <a:avLst/>
          </a:prstGeom>
        </p:spPr>
        <p:txBody>
          <a:bodyPr anchor="t" rtlCol="false" tIns="0" lIns="0" bIns="0" rIns="0">
            <a:spAutoFit/>
          </a:bodyPr>
          <a:lstStyle/>
          <a:p>
            <a:pPr algn="l">
              <a:lnSpc>
                <a:spcPts val="2812"/>
              </a:lnSpc>
            </a:pPr>
            <a:r>
              <a:rPr lang="en-US" sz="1750">
                <a:solidFill>
                  <a:srgbClr val="404155"/>
                </a:solidFill>
                <a:latin typeface="Arimo"/>
                <a:ea typeface="Arimo"/>
                <a:cs typeface="Arimo"/>
                <a:sym typeface="Arimo"/>
              </a:rPr>
              <a:t>Assemble the complete battery pack from multiple modules.</a:t>
            </a:r>
          </a:p>
        </p:txBody>
      </p:sp>
      <p:grpSp>
        <p:nvGrpSpPr>
          <p:cNvPr name="Group 27" id="27"/>
          <p:cNvGrpSpPr/>
          <p:nvPr/>
        </p:nvGrpSpPr>
        <p:grpSpPr>
          <a:xfrm rot="0">
            <a:off x="1667916" y="8101459"/>
            <a:ext cx="236339" cy="1370410"/>
            <a:chOff x="0" y="0"/>
            <a:chExt cx="315118" cy="1827213"/>
          </a:xfrm>
        </p:grpSpPr>
        <p:sp>
          <p:nvSpPr>
            <p:cNvPr name="Freeform 28" id="28"/>
            <p:cNvSpPr/>
            <p:nvPr/>
          </p:nvSpPr>
          <p:spPr>
            <a:xfrm flipH="false" flipV="false" rot="0">
              <a:off x="6350" y="6350"/>
              <a:ext cx="302387" cy="1814576"/>
            </a:xfrm>
            <a:custGeom>
              <a:avLst/>
              <a:gdLst/>
              <a:ahLst/>
              <a:cxnLst/>
              <a:rect r="r" b="b" t="t" l="l"/>
              <a:pathLst>
                <a:path h="1814576" w="302387">
                  <a:moveTo>
                    <a:pt x="0" y="131445"/>
                  </a:moveTo>
                  <a:cubicBezTo>
                    <a:pt x="0" y="58801"/>
                    <a:pt x="56896" y="0"/>
                    <a:pt x="127000" y="0"/>
                  </a:cubicBezTo>
                  <a:lnTo>
                    <a:pt x="175387" y="0"/>
                  </a:lnTo>
                  <a:cubicBezTo>
                    <a:pt x="245491" y="0"/>
                    <a:pt x="302387" y="58801"/>
                    <a:pt x="302387" y="131445"/>
                  </a:cubicBezTo>
                  <a:lnTo>
                    <a:pt x="302387" y="1683131"/>
                  </a:lnTo>
                  <a:cubicBezTo>
                    <a:pt x="302387" y="1755775"/>
                    <a:pt x="245491" y="1814576"/>
                    <a:pt x="175387" y="1814576"/>
                  </a:cubicBezTo>
                  <a:lnTo>
                    <a:pt x="127000" y="1814576"/>
                  </a:lnTo>
                  <a:cubicBezTo>
                    <a:pt x="56896" y="1814576"/>
                    <a:pt x="0" y="1755775"/>
                    <a:pt x="0" y="1683131"/>
                  </a:cubicBezTo>
                  <a:close/>
                </a:path>
              </a:pathLst>
            </a:custGeom>
            <a:solidFill>
              <a:srgbClr val="D2D9F9"/>
            </a:solidFill>
          </p:spPr>
        </p:sp>
        <p:sp>
          <p:nvSpPr>
            <p:cNvPr name="Freeform 29" id="29"/>
            <p:cNvSpPr/>
            <p:nvPr/>
          </p:nvSpPr>
          <p:spPr>
            <a:xfrm flipH="false" flipV="false" rot="0">
              <a:off x="0" y="0"/>
              <a:ext cx="315087" cy="1827276"/>
            </a:xfrm>
            <a:custGeom>
              <a:avLst/>
              <a:gdLst/>
              <a:ahLst/>
              <a:cxnLst/>
              <a:rect r="r" b="b" t="t" l="l"/>
              <a:pathLst>
                <a:path h="1827276" w="315087">
                  <a:moveTo>
                    <a:pt x="0" y="137795"/>
                  </a:moveTo>
                  <a:cubicBezTo>
                    <a:pt x="0" y="61849"/>
                    <a:pt x="59563" y="0"/>
                    <a:pt x="133350" y="0"/>
                  </a:cubicBezTo>
                  <a:lnTo>
                    <a:pt x="181737" y="0"/>
                  </a:lnTo>
                  <a:lnTo>
                    <a:pt x="181737" y="6350"/>
                  </a:lnTo>
                  <a:lnTo>
                    <a:pt x="181737" y="0"/>
                  </a:lnTo>
                  <a:lnTo>
                    <a:pt x="181737" y="6350"/>
                  </a:lnTo>
                  <a:lnTo>
                    <a:pt x="181737" y="0"/>
                  </a:lnTo>
                  <a:cubicBezTo>
                    <a:pt x="255651" y="0"/>
                    <a:pt x="315087" y="61849"/>
                    <a:pt x="315087" y="137795"/>
                  </a:cubicBezTo>
                  <a:lnTo>
                    <a:pt x="315087" y="1689481"/>
                  </a:lnTo>
                  <a:lnTo>
                    <a:pt x="308737" y="1689481"/>
                  </a:lnTo>
                  <a:lnTo>
                    <a:pt x="315087" y="1689481"/>
                  </a:lnTo>
                  <a:cubicBezTo>
                    <a:pt x="315087" y="1765427"/>
                    <a:pt x="255524" y="1827276"/>
                    <a:pt x="181737" y="1827276"/>
                  </a:cubicBezTo>
                  <a:lnTo>
                    <a:pt x="181737" y="1820926"/>
                  </a:lnTo>
                  <a:lnTo>
                    <a:pt x="181737" y="1827276"/>
                  </a:lnTo>
                  <a:lnTo>
                    <a:pt x="133350" y="1827276"/>
                  </a:lnTo>
                  <a:lnTo>
                    <a:pt x="133350" y="1820926"/>
                  </a:lnTo>
                  <a:lnTo>
                    <a:pt x="133350" y="1827276"/>
                  </a:lnTo>
                  <a:cubicBezTo>
                    <a:pt x="59563" y="1827276"/>
                    <a:pt x="0" y="1765300"/>
                    <a:pt x="0" y="1689481"/>
                  </a:cubicBezTo>
                  <a:lnTo>
                    <a:pt x="0" y="137795"/>
                  </a:lnTo>
                  <a:lnTo>
                    <a:pt x="6350" y="137795"/>
                  </a:lnTo>
                  <a:lnTo>
                    <a:pt x="0" y="137795"/>
                  </a:lnTo>
                  <a:moveTo>
                    <a:pt x="12700" y="137795"/>
                  </a:moveTo>
                  <a:lnTo>
                    <a:pt x="12700" y="1689481"/>
                  </a:lnTo>
                  <a:lnTo>
                    <a:pt x="6350" y="1689481"/>
                  </a:lnTo>
                  <a:lnTo>
                    <a:pt x="12700" y="1689481"/>
                  </a:lnTo>
                  <a:cubicBezTo>
                    <a:pt x="12700" y="1758823"/>
                    <a:pt x="66929" y="1814576"/>
                    <a:pt x="133350" y="1814576"/>
                  </a:cubicBezTo>
                  <a:lnTo>
                    <a:pt x="181737" y="1814576"/>
                  </a:lnTo>
                  <a:cubicBezTo>
                    <a:pt x="248158" y="1814576"/>
                    <a:pt x="302387" y="1758823"/>
                    <a:pt x="302387" y="1689481"/>
                  </a:cubicBezTo>
                  <a:lnTo>
                    <a:pt x="302387" y="137795"/>
                  </a:lnTo>
                  <a:lnTo>
                    <a:pt x="308737" y="137795"/>
                  </a:lnTo>
                  <a:lnTo>
                    <a:pt x="302387" y="137795"/>
                  </a:lnTo>
                  <a:cubicBezTo>
                    <a:pt x="302387" y="68453"/>
                    <a:pt x="248158" y="12700"/>
                    <a:pt x="181737" y="12700"/>
                  </a:cubicBezTo>
                  <a:lnTo>
                    <a:pt x="133350" y="12700"/>
                  </a:lnTo>
                  <a:lnTo>
                    <a:pt x="133350" y="6350"/>
                  </a:lnTo>
                  <a:lnTo>
                    <a:pt x="133350" y="12700"/>
                  </a:lnTo>
                  <a:cubicBezTo>
                    <a:pt x="66929" y="12700"/>
                    <a:pt x="12700" y="68453"/>
                    <a:pt x="12700" y="137795"/>
                  </a:cubicBezTo>
                  <a:close/>
                </a:path>
              </a:pathLst>
            </a:custGeom>
            <a:solidFill>
              <a:srgbClr val="B8BFDF"/>
            </a:solidFill>
          </p:spPr>
        </p:sp>
      </p:grpSp>
      <p:sp>
        <p:nvSpPr>
          <p:cNvPr name="TextBox 30" id="30"/>
          <p:cNvSpPr txBox="true"/>
          <p:nvPr/>
        </p:nvSpPr>
        <p:spPr>
          <a:xfrm rot="0">
            <a:off x="2126307" y="8323510"/>
            <a:ext cx="2933700" cy="363885"/>
          </a:xfrm>
          <a:prstGeom prst="rect">
            <a:avLst/>
          </a:prstGeom>
        </p:spPr>
        <p:txBody>
          <a:bodyPr anchor="t" rtlCol="false" tIns="0" lIns="0" bIns="0" rIns="0">
            <a:spAutoFit/>
          </a:bodyPr>
          <a:lstStyle/>
          <a:p>
            <a:pPr algn="l">
              <a:lnSpc>
                <a:spcPts val="2750"/>
              </a:lnSpc>
            </a:pPr>
            <a:r>
              <a:rPr lang="en-US" sz="2187">
                <a:solidFill>
                  <a:srgbClr val="404155"/>
                </a:solidFill>
                <a:latin typeface="Corben"/>
                <a:ea typeface="Corben"/>
                <a:cs typeface="Corben"/>
                <a:sym typeface="Corben"/>
              </a:rPr>
              <a:t>5. Thermal Simulation</a:t>
            </a:r>
          </a:p>
        </p:txBody>
      </p:sp>
      <p:sp>
        <p:nvSpPr>
          <p:cNvPr name="TextBox 31" id="31"/>
          <p:cNvSpPr txBox="true"/>
          <p:nvPr/>
        </p:nvSpPr>
        <p:spPr>
          <a:xfrm rot="0">
            <a:off x="2126307" y="8728174"/>
            <a:ext cx="15169455" cy="458092"/>
          </a:xfrm>
          <a:prstGeom prst="rect">
            <a:avLst/>
          </a:prstGeom>
        </p:spPr>
        <p:txBody>
          <a:bodyPr anchor="t" rtlCol="false" tIns="0" lIns="0" bIns="0" rIns="0">
            <a:spAutoFit/>
          </a:bodyPr>
          <a:lstStyle/>
          <a:p>
            <a:pPr algn="l">
              <a:lnSpc>
                <a:spcPts val="2812"/>
              </a:lnSpc>
            </a:pPr>
            <a:r>
              <a:rPr lang="en-US" sz="1750">
                <a:solidFill>
                  <a:srgbClr val="404155"/>
                </a:solidFill>
                <a:latin typeface="Arimo"/>
                <a:ea typeface="Arimo"/>
                <a:cs typeface="Arimo"/>
                <a:sym typeface="Arimo"/>
              </a:rPr>
              <a:t>Enable thermal modeling and simulate heat flow and temperature changes.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9FF">
                <a:alpha val="90196"/>
              </a:srgbClr>
            </a:solidFill>
          </p:spPr>
        </p:sp>
      </p:grpSp>
      <p:sp>
        <p:nvSpPr>
          <p:cNvPr name="TextBox 6" id="6"/>
          <p:cNvSpPr txBox="true"/>
          <p:nvPr/>
        </p:nvSpPr>
        <p:spPr>
          <a:xfrm rot="0">
            <a:off x="992238" y="1085850"/>
            <a:ext cx="6705302" cy="727770"/>
          </a:xfrm>
          <a:prstGeom prst="rect">
            <a:avLst/>
          </a:prstGeom>
        </p:spPr>
        <p:txBody>
          <a:bodyPr anchor="t" rtlCol="false" tIns="0" lIns="0" bIns="0" rIns="0">
            <a:spAutoFit/>
          </a:bodyPr>
          <a:lstStyle/>
          <a:p>
            <a:pPr algn="l">
              <a:lnSpc>
                <a:spcPts val="5562"/>
              </a:lnSpc>
            </a:pPr>
            <a:r>
              <a:rPr lang="en-US" sz="4437">
                <a:solidFill>
                  <a:srgbClr val="1B1B27"/>
                </a:solidFill>
                <a:latin typeface="Corben"/>
                <a:ea typeface="Corben"/>
                <a:cs typeface="Corben"/>
                <a:sym typeface="Corben"/>
              </a:rPr>
              <a:t>Pouch Cell Configuration</a:t>
            </a:r>
          </a:p>
        </p:txBody>
      </p:sp>
      <p:grpSp>
        <p:nvGrpSpPr>
          <p:cNvPr name="Group 7" id="7"/>
          <p:cNvGrpSpPr/>
          <p:nvPr/>
        </p:nvGrpSpPr>
        <p:grpSpPr>
          <a:xfrm rot="0">
            <a:off x="992238" y="2408932"/>
            <a:ext cx="7875091" cy="4828282"/>
            <a:chOff x="0" y="0"/>
            <a:chExt cx="10500122" cy="6437710"/>
          </a:xfrm>
        </p:grpSpPr>
        <p:sp>
          <p:nvSpPr>
            <p:cNvPr name="Freeform 8" id="8" descr="preencoded.png"/>
            <p:cNvSpPr/>
            <p:nvPr/>
          </p:nvSpPr>
          <p:spPr>
            <a:xfrm flipH="false" flipV="false" rot="0">
              <a:off x="0" y="0"/>
              <a:ext cx="10500106" cy="6437757"/>
            </a:xfrm>
            <a:custGeom>
              <a:avLst/>
              <a:gdLst/>
              <a:ahLst/>
              <a:cxnLst/>
              <a:rect r="r" b="b" t="t" l="l"/>
              <a:pathLst>
                <a:path h="6437757" w="10500106">
                  <a:moveTo>
                    <a:pt x="0" y="0"/>
                  </a:moveTo>
                  <a:lnTo>
                    <a:pt x="10500106" y="0"/>
                  </a:lnTo>
                  <a:lnTo>
                    <a:pt x="10500106" y="6437757"/>
                  </a:lnTo>
                  <a:lnTo>
                    <a:pt x="0" y="6437757"/>
                  </a:lnTo>
                  <a:lnTo>
                    <a:pt x="0" y="0"/>
                  </a:lnTo>
                  <a:close/>
                </a:path>
              </a:pathLst>
            </a:custGeom>
            <a:blipFill>
              <a:blip r:embed="rId3"/>
              <a:stretch>
                <a:fillRect l="-3" t="0" r="-4" b="0"/>
              </a:stretch>
            </a:blipFill>
          </p:spPr>
        </p:sp>
      </p:grpSp>
      <p:grpSp>
        <p:nvGrpSpPr>
          <p:cNvPr name="Group 9" id="9"/>
          <p:cNvGrpSpPr/>
          <p:nvPr/>
        </p:nvGrpSpPr>
        <p:grpSpPr>
          <a:xfrm rot="0">
            <a:off x="9425434" y="2404170"/>
            <a:ext cx="7884616" cy="1789062"/>
            <a:chOff x="0" y="0"/>
            <a:chExt cx="10512822" cy="2385417"/>
          </a:xfrm>
        </p:grpSpPr>
        <p:sp>
          <p:nvSpPr>
            <p:cNvPr name="Freeform 10" id="10"/>
            <p:cNvSpPr/>
            <p:nvPr/>
          </p:nvSpPr>
          <p:spPr>
            <a:xfrm flipH="false" flipV="false" rot="0">
              <a:off x="6350" y="6350"/>
              <a:ext cx="10500106" cy="2372741"/>
            </a:xfrm>
            <a:custGeom>
              <a:avLst/>
              <a:gdLst/>
              <a:ahLst/>
              <a:cxnLst/>
              <a:rect r="r" b="b" t="t" l="l"/>
              <a:pathLst>
                <a:path h="2372741" w="10500106">
                  <a:moveTo>
                    <a:pt x="0" y="127000"/>
                  </a:moveTo>
                  <a:cubicBezTo>
                    <a:pt x="0" y="56896"/>
                    <a:pt x="57150" y="0"/>
                    <a:pt x="127508" y="0"/>
                  </a:cubicBezTo>
                  <a:lnTo>
                    <a:pt x="10372598" y="0"/>
                  </a:lnTo>
                  <a:cubicBezTo>
                    <a:pt x="10443083" y="0"/>
                    <a:pt x="10500106" y="56896"/>
                    <a:pt x="10500106" y="127000"/>
                  </a:cubicBezTo>
                  <a:lnTo>
                    <a:pt x="10500106" y="2245741"/>
                  </a:lnTo>
                  <a:cubicBezTo>
                    <a:pt x="10500106" y="2315845"/>
                    <a:pt x="10442956" y="2372741"/>
                    <a:pt x="10372598" y="2372741"/>
                  </a:cubicBezTo>
                  <a:lnTo>
                    <a:pt x="127508" y="2372741"/>
                  </a:lnTo>
                  <a:cubicBezTo>
                    <a:pt x="57150" y="2372741"/>
                    <a:pt x="0" y="2315845"/>
                    <a:pt x="0" y="2245741"/>
                  </a:cubicBezTo>
                  <a:close/>
                </a:path>
              </a:pathLst>
            </a:custGeom>
            <a:solidFill>
              <a:srgbClr val="D2D9F9"/>
            </a:solidFill>
          </p:spPr>
        </p:sp>
        <p:sp>
          <p:nvSpPr>
            <p:cNvPr name="Freeform 11" id="11"/>
            <p:cNvSpPr/>
            <p:nvPr/>
          </p:nvSpPr>
          <p:spPr>
            <a:xfrm flipH="false" flipV="false" rot="0">
              <a:off x="0" y="0"/>
              <a:ext cx="10512806" cy="2385441"/>
            </a:xfrm>
            <a:custGeom>
              <a:avLst/>
              <a:gdLst/>
              <a:ahLst/>
              <a:cxnLst/>
              <a:rect r="r" b="b" t="t" l="l"/>
              <a:pathLst>
                <a:path h="2385441" w="10512806">
                  <a:moveTo>
                    <a:pt x="0" y="133350"/>
                  </a:moveTo>
                  <a:cubicBezTo>
                    <a:pt x="0" y="59690"/>
                    <a:pt x="59944" y="0"/>
                    <a:pt x="133858" y="0"/>
                  </a:cubicBezTo>
                  <a:lnTo>
                    <a:pt x="10378948" y="0"/>
                  </a:lnTo>
                  <a:lnTo>
                    <a:pt x="10378948" y="6350"/>
                  </a:lnTo>
                  <a:lnTo>
                    <a:pt x="10378948" y="0"/>
                  </a:lnTo>
                  <a:cubicBezTo>
                    <a:pt x="10452862" y="0"/>
                    <a:pt x="10512806" y="59690"/>
                    <a:pt x="10512806" y="133350"/>
                  </a:cubicBezTo>
                  <a:lnTo>
                    <a:pt x="10506456" y="133350"/>
                  </a:lnTo>
                  <a:lnTo>
                    <a:pt x="10512806" y="133350"/>
                  </a:lnTo>
                  <a:lnTo>
                    <a:pt x="10512806" y="2252091"/>
                  </a:lnTo>
                  <a:lnTo>
                    <a:pt x="10506456" y="2252091"/>
                  </a:lnTo>
                  <a:lnTo>
                    <a:pt x="10512806" y="2252091"/>
                  </a:lnTo>
                  <a:cubicBezTo>
                    <a:pt x="10512806" y="2325751"/>
                    <a:pt x="10452862" y="2385441"/>
                    <a:pt x="10378948" y="2385441"/>
                  </a:cubicBezTo>
                  <a:lnTo>
                    <a:pt x="10378948" y="2379091"/>
                  </a:lnTo>
                  <a:lnTo>
                    <a:pt x="10378948" y="2385441"/>
                  </a:lnTo>
                  <a:lnTo>
                    <a:pt x="133858" y="2385441"/>
                  </a:lnTo>
                  <a:lnTo>
                    <a:pt x="133858" y="2379091"/>
                  </a:lnTo>
                  <a:lnTo>
                    <a:pt x="133858" y="2385441"/>
                  </a:lnTo>
                  <a:cubicBezTo>
                    <a:pt x="59944" y="2385441"/>
                    <a:pt x="0" y="2325751"/>
                    <a:pt x="0" y="2252091"/>
                  </a:cubicBezTo>
                  <a:lnTo>
                    <a:pt x="0" y="133350"/>
                  </a:lnTo>
                  <a:lnTo>
                    <a:pt x="6350" y="133350"/>
                  </a:lnTo>
                  <a:lnTo>
                    <a:pt x="0" y="133350"/>
                  </a:lnTo>
                  <a:moveTo>
                    <a:pt x="12700" y="133350"/>
                  </a:moveTo>
                  <a:lnTo>
                    <a:pt x="12700" y="2252091"/>
                  </a:lnTo>
                  <a:lnTo>
                    <a:pt x="6350" y="2252091"/>
                  </a:lnTo>
                  <a:lnTo>
                    <a:pt x="12700" y="2252091"/>
                  </a:lnTo>
                  <a:cubicBezTo>
                    <a:pt x="12700" y="2318766"/>
                    <a:pt x="66929" y="2372741"/>
                    <a:pt x="133858" y="2372741"/>
                  </a:cubicBezTo>
                  <a:lnTo>
                    <a:pt x="10378948" y="2372741"/>
                  </a:lnTo>
                  <a:cubicBezTo>
                    <a:pt x="10445877" y="2372741"/>
                    <a:pt x="10500106" y="2318639"/>
                    <a:pt x="10500106" y="2252091"/>
                  </a:cubicBezTo>
                  <a:lnTo>
                    <a:pt x="10500106" y="133350"/>
                  </a:lnTo>
                  <a:cubicBezTo>
                    <a:pt x="10500106" y="66675"/>
                    <a:pt x="10445877" y="12700"/>
                    <a:pt x="10378948" y="12700"/>
                  </a:cubicBezTo>
                  <a:lnTo>
                    <a:pt x="133858" y="12700"/>
                  </a:lnTo>
                  <a:lnTo>
                    <a:pt x="133858" y="6350"/>
                  </a:lnTo>
                  <a:lnTo>
                    <a:pt x="133858" y="12700"/>
                  </a:lnTo>
                  <a:cubicBezTo>
                    <a:pt x="66929" y="12700"/>
                    <a:pt x="12700" y="66802"/>
                    <a:pt x="12700" y="133350"/>
                  </a:cubicBezTo>
                  <a:close/>
                </a:path>
              </a:pathLst>
            </a:custGeom>
            <a:solidFill>
              <a:srgbClr val="B8BFDF"/>
            </a:solidFill>
          </p:spPr>
        </p:sp>
      </p:grpSp>
      <p:sp>
        <p:nvSpPr>
          <p:cNvPr name="TextBox 12" id="12"/>
          <p:cNvSpPr txBox="true"/>
          <p:nvPr/>
        </p:nvSpPr>
        <p:spPr>
          <a:xfrm rot="0">
            <a:off x="9666535" y="2635746"/>
            <a:ext cx="2835325" cy="363885"/>
          </a:xfrm>
          <a:prstGeom prst="rect">
            <a:avLst/>
          </a:prstGeom>
        </p:spPr>
        <p:txBody>
          <a:bodyPr anchor="t" rtlCol="false" tIns="0" lIns="0" bIns="0" rIns="0">
            <a:spAutoFit/>
          </a:bodyPr>
          <a:lstStyle/>
          <a:p>
            <a:pPr algn="l">
              <a:lnSpc>
                <a:spcPts val="2750"/>
              </a:lnSpc>
            </a:pPr>
            <a:r>
              <a:rPr lang="en-US" sz="2187">
                <a:solidFill>
                  <a:srgbClr val="404155"/>
                </a:solidFill>
                <a:latin typeface="Corben"/>
                <a:ea typeface="Corben"/>
                <a:cs typeface="Corben"/>
                <a:sym typeface="Corben"/>
              </a:rPr>
              <a:t>Physical Design</a:t>
            </a:r>
          </a:p>
        </p:txBody>
      </p:sp>
      <p:sp>
        <p:nvSpPr>
          <p:cNvPr name="TextBox 13" id="13"/>
          <p:cNvSpPr txBox="true"/>
          <p:nvPr/>
        </p:nvSpPr>
        <p:spPr>
          <a:xfrm rot="0">
            <a:off x="9666535" y="3131195"/>
            <a:ext cx="7402414" cy="820936"/>
          </a:xfrm>
          <a:prstGeom prst="rect">
            <a:avLst/>
          </a:prstGeom>
        </p:spPr>
        <p:txBody>
          <a:bodyPr anchor="t" rtlCol="false" tIns="0" lIns="0" bIns="0" rIns="0">
            <a:spAutoFit/>
          </a:bodyPr>
          <a:lstStyle/>
          <a:p>
            <a:pPr algn="l">
              <a:lnSpc>
                <a:spcPts val="2812"/>
              </a:lnSpc>
            </a:pPr>
            <a:r>
              <a:rPr lang="en-US" sz="1750">
                <a:solidFill>
                  <a:srgbClr val="404155"/>
                </a:solidFill>
                <a:latin typeface="Arimo"/>
                <a:ea typeface="Arimo"/>
                <a:cs typeface="Arimo"/>
                <a:sym typeface="Arimo"/>
              </a:rPr>
              <a:t>The 'batteryPouchGeometry' function was utilized to precisely define the physical parameters and dimensions of the pouch cell.</a:t>
            </a:r>
          </a:p>
        </p:txBody>
      </p:sp>
      <p:grpSp>
        <p:nvGrpSpPr>
          <p:cNvPr name="Group 14" id="14"/>
          <p:cNvGrpSpPr/>
          <p:nvPr/>
        </p:nvGrpSpPr>
        <p:grpSpPr>
          <a:xfrm rot="0">
            <a:off x="9425434" y="4410521"/>
            <a:ext cx="7884616" cy="2151906"/>
            <a:chOff x="0" y="0"/>
            <a:chExt cx="10512822" cy="2869208"/>
          </a:xfrm>
        </p:grpSpPr>
        <p:sp>
          <p:nvSpPr>
            <p:cNvPr name="Freeform 15" id="15"/>
            <p:cNvSpPr/>
            <p:nvPr/>
          </p:nvSpPr>
          <p:spPr>
            <a:xfrm flipH="false" flipV="false" rot="0">
              <a:off x="6350" y="6350"/>
              <a:ext cx="10500106" cy="2856484"/>
            </a:xfrm>
            <a:custGeom>
              <a:avLst/>
              <a:gdLst/>
              <a:ahLst/>
              <a:cxnLst/>
              <a:rect r="r" b="b" t="t" l="l"/>
              <a:pathLst>
                <a:path h="2856484" w="10500106">
                  <a:moveTo>
                    <a:pt x="0" y="127000"/>
                  </a:moveTo>
                  <a:cubicBezTo>
                    <a:pt x="0" y="56896"/>
                    <a:pt x="57023" y="0"/>
                    <a:pt x="127381" y="0"/>
                  </a:cubicBezTo>
                  <a:lnTo>
                    <a:pt x="10372725" y="0"/>
                  </a:lnTo>
                  <a:cubicBezTo>
                    <a:pt x="10443083" y="0"/>
                    <a:pt x="10500106" y="56896"/>
                    <a:pt x="10500106" y="127000"/>
                  </a:cubicBezTo>
                  <a:lnTo>
                    <a:pt x="10500106" y="2729484"/>
                  </a:lnTo>
                  <a:cubicBezTo>
                    <a:pt x="10500106" y="2799588"/>
                    <a:pt x="10443083" y="2856484"/>
                    <a:pt x="10372725" y="2856484"/>
                  </a:cubicBezTo>
                  <a:lnTo>
                    <a:pt x="127381" y="2856484"/>
                  </a:lnTo>
                  <a:cubicBezTo>
                    <a:pt x="57023" y="2856484"/>
                    <a:pt x="0" y="2799588"/>
                    <a:pt x="0" y="2729484"/>
                  </a:cubicBezTo>
                  <a:close/>
                </a:path>
              </a:pathLst>
            </a:custGeom>
            <a:solidFill>
              <a:srgbClr val="D2D9F9"/>
            </a:solidFill>
          </p:spPr>
        </p:sp>
        <p:sp>
          <p:nvSpPr>
            <p:cNvPr name="Freeform 16" id="16"/>
            <p:cNvSpPr/>
            <p:nvPr/>
          </p:nvSpPr>
          <p:spPr>
            <a:xfrm flipH="false" flipV="false" rot="0">
              <a:off x="0" y="0"/>
              <a:ext cx="10512806" cy="2869184"/>
            </a:xfrm>
            <a:custGeom>
              <a:avLst/>
              <a:gdLst/>
              <a:ahLst/>
              <a:cxnLst/>
              <a:rect r="r" b="b" t="t" l="l"/>
              <a:pathLst>
                <a:path h="2869184" w="10512806">
                  <a:moveTo>
                    <a:pt x="0" y="133350"/>
                  </a:moveTo>
                  <a:cubicBezTo>
                    <a:pt x="0" y="59690"/>
                    <a:pt x="59944" y="0"/>
                    <a:pt x="133731" y="0"/>
                  </a:cubicBezTo>
                  <a:lnTo>
                    <a:pt x="10379075" y="0"/>
                  </a:lnTo>
                  <a:lnTo>
                    <a:pt x="10379075" y="6350"/>
                  </a:lnTo>
                  <a:lnTo>
                    <a:pt x="10379075" y="0"/>
                  </a:lnTo>
                  <a:cubicBezTo>
                    <a:pt x="10452989" y="0"/>
                    <a:pt x="10512806" y="59690"/>
                    <a:pt x="10512806" y="133350"/>
                  </a:cubicBezTo>
                  <a:lnTo>
                    <a:pt x="10506456" y="133350"/>
                  </a:lnTo>
                  <a:lnTo>
                    <a:pt x="10512806" y="133350"/>
                  </a:lnTo>
                  <a:lnTo>
                    <a:pt x="10512806" y="2735834"/>
                  </a:lnTo>
                  <a:lnTo>
                    <a:pt x="10506456" y="2735834"/>
                  </a:lnTo>
                  <a:lnTo>
                    <a:pt x="10512806" y="2735834"/>
                  </a:lnTo>
                  <a:cubicBezTo>
                    <a:pt x="10512806" y="2809494"/>
                    <a:pt x="10452862" y="2869184"/>
                    <a:pt x="10379075" y="2869184"/>
                  </a:cubicBezTo>
                  <a:lnTo>
                    <a:pt x="10379075" y="2862834"/>
                  </a:lnTo>
                  <a:lnTo>
                    <a:pt x="10379075" y="2869184"/>
                  </a:lnTo>
                  <a:lnTo>
                    <a:pt x="133731" y="2869184"/>
                  </a:lnTo>
                  <a:lnTo>
                    <a:pt x="133731" y="2862834"/>
                  </a:lnTo>
                  <a:lnTo>
                    <a:pt x="133731" y="2869184"/>
                  </a:lnTo>
                  <a:cubicBezTo>
                    <a:pt x="59817" y="2869184"/>
                    <a:pt x="0" y="2809494"/>
                    <a:pt x="0" y="2735834"/>
                  </a:cubicBezTo>
                  <a:lnTo>
                    <a:pt x="0" y="133350"/>
                  </a:lnTo>
                  <a:lnTo>
                    <a:pt x="6350" y="133350"/>
                  </a:lnTo>
                  <a:lnTo>
                    <a:pt x="0" y="133350"/>
                  </a:lnTo>
                  <a:moveTo>
                    <a:pt x="12700" y="133350"/>
                  </a:moveTo>
                  <a:lnTo>
                    <a:pt x="12700" y="2735834"/>
                  </a:lnTo>
                  <a:lnTo>
                    <a:pt x="6350" y="2735834"/>
                  </a:lnTo>
                  <a:lnTo>
                    <a:pt x="12700" y="2735834"/>
                  </a:lnTo>
                  <a:cubicBezTo>
                    <a:pt x="12700" y="2802509"/>
                    <a:pt x="66929" y="2856484"/>
                    <a:pt x="133731" y="2856484"/>
                  </a:cubicBezTo>
                  <a:lnTo>
                    <a:pt x="10379075" y="2856484"/>
                  </a:lnTo>
                  <a:cubicBezTo>
                    <a:pt x="10446004" y="2856484"/>
                    <a:pt x="10500106" y="2802382"/>
                    <a:pt x="10500106" y="2735834"/>
                  </a:cubicBezTo>
                  <a:lnTo>
                    <a:pt x="10500106" y="133350"/>
                  </a:lnTo>
                  <a:cubicBezTo>
                    <a:pt x="10500106" y="66675"/>
                    <a:pt x="10445877" y="12700"/>
                    <a:pt x="10379075" y="12700"/>
                  </a:cubicBezTo>
                  <a:lnTo>
                    <a:pt x="133731" y="12700"/>
                  </a:lnTo>
                  <a:lnTo>
                    <a:pt x="133731" y="6350"/>
                  </a:lnTo>
                  <a:lnTo>
                    <a:pt x="133731" y="12700"/>
                  </a:lnTo>
                  <a:cubicBezTo>
                    <a:pt x="66929" y="12700"/>
                    <a:pt x="12700" y="66802"/>
                    <a:pt x="12700" y="133350"/>
                  </a:cubicBezTo>
                  <a:close/>
                </a:path>
              </a:pathLst>
            </a:custGeom>
            <a:solidFill>
              <a:srgbClr val="B8BFDF"/>
            </a:solidFill>
          </p:spPr>
        </p:sp>
      </p:grpSp>
      <p:sp>
        <p:nvSpPr>
          <p:cNvPr name="TextBox 17" id="17"/>
          <p:cNvSpPr txBox="true"/>
          <p:nvPr/>
        </p:nvSpPr>
        <p:spPr>
          <a:xfrm rot="0">
            <a:off x="9666535" y="4642097"/>
            <a:ext cx="2835325" cy="363885"/>
          </a:xfrm>
          <a:prstGeom prst="rect">
            <a:avLst/>
          </a:prstGeom>
        </p:spPr>
        <p:txBody>
          <a:bodyPr anchor="t" rtlCol="false" tIns="0" lIns="0" bIns="0" rIns="0">
            <a:spAutoFit/>
          </a:bodyPr>
          <a:lstStyle/>
          <a:p>
            <a:pPr algn="l">
              <a:lnSpc>
                <a:spcPts val="2750"/>
              </a:lnSpc>
            </a:pPr>
            <a:r>
              <a:rPr lang="en-US" sz="2187">
                <a:solidFill>
                  <a:srgbClr val="404155"/>
                </a:solidFill>
                <a:latin typeface="Corben"/>
                <a:ea typeface="Corben"/>
                <a:cs typeface="Corben"/>
                <a:sym typeface="Corben"/>
              </a:rPr>
              <a:t>Thermal Integration</a:t>
            </a:r>
          </a:p>
        </p:txBody>
      </p:sp>
      <p:sp>
        <p:nvSpPr>
          <p:cNvPr name="TextBox 18" id="18"/>
          <p:cNvSpPr txBox="true"/>
          <p:nvPr/>
        </p:nvSpPr>
        <p:spPr>
          <a:xfrm rot="0">
            <a:off x="9666535" y="5137548"/>
            <a:ext cx="7402414" cy="1183779"/>
          </a:xfrm>
          <a:prstGeom prst="rect">
            <a:avLst/>
          </a:prstGeom>
        </p:spPr>
        <p:txBody>
          <a:bodyPr anchor="t" rtlCol="false" tIns="0" lIns="0" bIns="0" rIns="0">
            <a:spAutoFit/>
          </a:bodyPr>
          <a:lstStyle/>
          <a:p>
            <a:pPr algn="l">
              <a:lnSpc>
                <a:spcPts val="2812"/>
              </a:lnSpc>
            </a:pPr>
            <a:r>
              <a:rPr lang="en-US" sz="1750">
                <a:solidFill>
                  <a:srgbClr val="404155"/>
                </a:solidFill>
                <a:latin typeface="Arimo"/>
                <a:ea typeface="Arimo"/>
                <a:cs typeface="Arimo"/>
                <a:sym typeface="Arimo"/>
              </a:rPr>
              <a:t>A dedicated thermal port was enabled within the cell model to allow for accurate temperature observation and data acquisition during simulations.</a:t>
            </a:r>
          </a:p>
        </p:txBody>
      </p:sp>
      <p:grpSp>
        <p:nvGrpSpPr>
          <p:cNvPr name="Group 19" id="19"/>
          <p:cNvGrpSpPr/>
          <p:nvPr/>
        </p:nvGrpSpPr>
        <p:grpSpPr>
          <a:xfrm rot="0">
            <a:off x="9425434" y="6779716"/>
            <a:ext cx="7884616" cy="2151906"/>
            <a:chOff x="0" y="0"/>
            <a:chExt cx="10512822" cy="2869208"/>
          </a:xfrm>
        </p:grpSpPr>
        <p:sp>
          <p:nvSpPr>
            <p:cNvPr name="Freeform 20" id="20"/>
            <p:cNvSpPr/>
            <p:nvPr/>
          </p:nvSpPr>
          <p:spPr>
            <a:xfrm flipH="false" flipV="false" rot="0">
              <a:off x="6350" y="6350"/>
              <a:ext cx="10500106" cy="2856484"/>
            </a:xfrm>
            <a:custGeom>
              <a:avLst/>
              <a:gdLst/>
              <a:ahLst/>
              <a:cxnLst/>
              <a:rect r="r" b="b" t="t" l="l"/>
              <a:pathLst>
                <a:path h="2856484" w="10500106">
                  <a:moveTo>
                    <a:pt x="0" y="127000"/>
                  </a:moveTo>
                  <a:cubicBezTo>
                    <a:pt x="0" y="56896"/>
                    <a:pt x="57023" y="0"/>
                    <a:pt x="127381" y="0"/>
                  </a:cubicBezTo>
                  <a:lnTo>
                    <a:pt x="10372725" y="0"/>
                  </a:lnTo>
                  <a:cubicBezTo>
                    <a:pt x="10443083" y="0"/>
                    <a:pt x="10500106" y="56896"/>
                    <a:pt x="10500106" y="127000"/>
                  </a:cubicBezTo>
                  <a:lnTo>
                    <a:pt x="10500106" y="2729484"/>
                  </a:lnTo>
                  <a:cubicBezTo>
                    <a:pt x="10500106" y="2799588"/>
                    <a:pt x="10443083" y="2856484"/>
                    <a:pt x="10372725" y="2856484"/>
                  </a:cubicBezTo>
                  <a:lnTo>
                    <a:pt x="127381" y="2856484"/>
                  </a:lnTo>
                  <a:cubicBezTo>
                    <a:pt x="57023" y="2856484"/>
                    <a:pt x="0" y="2799588"/>
                    <a:pt x="0" y="2729484"/>
                  </a:cubicBezTo>
                  <a:close/>
                </a:path>
              </a:pathLst>
            </a:custGeom>
            <a:solidFill>
              <a:srgbClr val="D2D9F9"/>
            </a:solidFill>
          </p:spPr>
        </p:sp>
        <p:sp>
          <p:nvSpPr>
            <p:cNvPr name="Freeform 21" id="21"/>
            <p:cNvSpPr/>
            <p:nvPr/>
          </p:nvSpPr>
          <p:spPr>
            <a:xfrm flipH="false" flipV="false" rot="0">
              <a:off x="0" y="0"/>
              <a:ext cx="10512806" cy="2869184"/>
            </a:xfrm>
            <a:custGeom>
              <a:avLst/>
              <a:gdLst/>
              <a:ahLst/>
              <a:cxnLst/>
              <a:rect r="r" b="b" t="t" l="l"/>
              <a:pathLst>
                <a:path h="2869184" w="10512806">
                  <a:moveTo>
                    <a:pt x="0" y="133350"/>
                  </a:moveTo>
                  <a:cubicBezTo>
                    <a:pt x="0" y="59690"/>
                    <a:pt x="59944" y="0"/>
                    <a:pt x="133731" y="0"/>
                  </a:cubicBezTo>
                  <a:lnTo>
                    <a:pt x="10379075" y="0"/>
                  </a:lnTo>
                  <a:lnTo>
                    <a:pt x="10379075" y="6350"/>
                  </a:lnTo>
                  <a:lnTo>
                    <a:pt x="10379075" y="0"/>
                  </a:lnTo>
                  <a:cubicBezTo>
                    <a:pt x="10452989" y="0"/>
                    <a:pt x="10512806" y="59690"/>
                    <a:pt x="10512806" y="133350"/>
                  </a:cubicBezTo>
                  <a:lnTo>
                    <a:pt x="10506456" y="133350"/>
                  </a:lnTo>
                  <a:lnTo>
                    <a:pt x="10512806" y="133350"/>
                  </a:lnTo>
                  <a:lnTo>
                    <a:pt x="10512806" y="2735834"/>
                  </a:lnTo>
                  <a:lnTo>
                    <a:pt x="10506456" y="2735834"/>
                  </a:lnTo>
                  <a:lnTo>
                    <a:pt x="10512806" y="2735834"/>
                  </a:lnTo>
                  <a:cubicBezTo>
                    <a:pt x="10512806" y="2809494"/>
                    <a:pt x="10452862" y="2869184"/>
                    <a:pt x="10379075" y="2869184"/>
                  </a:cubicBezTo>
                  <a:lnTo>
                    <a:pt x="10379075" y="2862834"/>
                  </a:lnTo>
                  <a:lnTo>
                    <a:pt x="10379075" y="2869184"/>
                  </a:lnTo>
                  <a:lnTo>
                    <a:pt x="133731" y="2869184"/>
                  </a:lnTo>
                  <a:lnTo>
                    <a:pt x="133731" y="2862834"/>
                  </a:lnTo>
                  <a:lnTo>
                    <a:pt x="133731" y="2869184"/>
                  </a:lnTo>
                  <a:cubicBezTo>
                    <a:pt x="59817" y="2869184"/>
                    <a:pt x="0" y="2809494"/>
                    <a:pt x="0" y="2735834"/>
                  </a:cubicBezTo>
                  <a:lnTo>
                    <a:pt x="0" y="133350"/>
                  </a:lnTo>
                  <a:lnTo>
                    <a:pt x="6350" y="133350"/>
                  </a:lnTo>
                  <a:lnTo>
                    <a:pt x="0" y="133350"/>
                  </a:lnTo>
                  <a:moveTo>
                    <a:pt x="12700" y="133350"/>
                  </a:moveTo>
                  <a:lnTo>
                    <a:pt x="12700" y="2735834"/>
                  </a:lnTo>
                  <a:lnTo>
                    <a:pt x="6350" y="2735834"/>
                  </a:lnTo>
                  <a:lnTo>
                    <a:pt x="12700" y="2735834"/>
                  </a:lnTo>
                  <a:cubicBezTo>
                    <a:pt x="12700" y="2802509"/>
                    <a:pt x="66929" y="2856484"/>
                    <a:pt x="133731" y="2856484"/>
                  </a:cubicBezTo>
                  <a:lnTo>
                    <a:pt x="10379075" y="2856484"/>
                  </a:lnTo>
                  <a:cubicBezTo>
                    <a:pt x="10446004" y="2856484"/>
                    <a:pt x="10500106" y="2802382"/>
                    <a:pt x="10500106" y="2735834"/>
                  </a:cubicBezTo>
                  <a:lnTo>
                    <a:pt x="10500106" y="133350"/>
                  </a:lnTo>
                  <a:cubicBezTo>
                    <a:pt x="10500106" y="66675"/>
                    <a:pt x="10445877" y="12700"/>
                    <a:pt x="10379075" y="12700"/>
                  </a:cubicBezTo>
                  <a:lnTo>
                    <a:pt x="133731" y="12700"/>
                  </a:lnTo>
                  <a:lnTo>
                    <a:pt x="133731" y="6350"/>
                  </a:lnTo>
                  <a:lnTo>
                    <a:pt x="133731" y="12700"/>
                  </a:lnTo>
                  <a:cubicBezTo>
                    <a:pt x="66929" y="12700"/>
                    <a:pt x="12700" y="66802"/>
                    <a:pt x="12700" y="133350"/>
                  </a:cubicBezTo>
                  <a:close/>
                </a:path>
              </a:pathLst>
            </a:custGeom>
            <a:solidFill>
              <a:srgbClr val="B8BFDF"/>
            </a:solidFill>
          </p:spPr>
        </p:sp>
      </p:grpSp>
      <p:sp>
        <p:nvSpPr>
          <p:cNvPr name="TextBox 22" id="22"/>
          <p:cNvSpPr txBox="true"/>
          <p:nvPr/>
        </p:nvSpPr>
        <p:spPr>
          <a:xfrm rot="0">
            <a:off x="9666535" y="7011292"/>
            <a:ext cx="2835325" cy="363885"/>
          </a:xfrm>
          <a:prstGeom prst="rect">
            <a:avLst/>
          </a:prstGeom>
        </p:spPr>
        <p:txBody>
          <a:bodyPr anchor="t" rtlCol="false" tIns="0" lIns="0" bIns="0" rIns="0">
            <a:spAutoFit/>
          </a:bodyPr>
          <a:lstStyle/>
          <a:p>
            <a:pPr algn="l">
              <a:lnSpc>
                <a:spcPts val="2750"/>
              </a:lnSpc>
            </a:pPr>
            <a:r>
              <a:rPr lang="en-US" sz="2187">
                <a:solidFill>
                  <a:srgbClr val="404155"/>
                </a:solidFill>
                <a:latin typeface="Corben"/>
                <a:ea typeface="Corben"/>
                <a:cs typeface="Corben"/>
                <a:sym typeface="Corben"/>
              </a:rPr>
              <a:t>Visual Validation</a:t>
            </a:r>
          </a:p>
        </p:txBody>
      </p:sp>
      <p:sp>
        <p:nvSpPr>
          <p:cNvPr name="TextBox 23" id="23"/>
          <p:cNvSpPr txBox="true"/>
          <p:nvPr/>
        </p:nvSpPr>
        <p:spPr>
          <a:xfrm rot="0">
            <a:off x="9666535" y="7506741"/>
            <a:ext cx="7402414" cy="1183779"/>
          </a:xfrm>
          <a:prstGeom prst="rect">
            <a:avLst/>
          </a:prstGeom>
        </p:spPr>
        <p:txBody>
          <a:bodyPr anchor="t" rtlCol="false" tIns="0" lIns="0" bIns="0" rIns="0">
            <a:spAutoFit/>
          </a:bodyPr>
          <a:lstStyle/>
          <a:p>
            <a:pPr algn="l">
              <a:lnSpc>
                <a:spcPts val="2812"/>
              </a:lnSpc>
            </a:pPr>
            <a:r>
              <a:rPr lang="en-US" sz="1750">
                <a:solidFill>
                  <a:srgbClr val="404155"/>
                </a:solidFill>
                <a:latin typeface="Arimo"/>
                <a:ea typeface="Arimo"/>
                <a:cs typeface="Arimo"/>
                <a:sym typeface="Arimo"/>
              </a:rPr>
              <a:t>The 'batteryChart' function provided a clear visual representation, confirming the geometric accuracy and configuration of the pouch cell.</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9FF">
                <a:alpha val="90196"/>
              </a:srgbClr>
            </a:solidFill>
          </p:spPr>
        </p:sp>
      </p:grpSp>
      <p:sp>
        <p:nvSpPr>
          <p:cNvPr name="TextBox 6" id="6"/>
          <p:cNvSpPr txBox="true"/>
          <p:nvPr/>
        </p:nvSpPr>
        <p:spPr>
          <a:xfrm rot="0">
            <a:off x="992238" y="777925"/>
            <a:ext cx="6379517" cy="825996"/>
          </a:xfrm>
          <a:prstGeom prst="rect">
            <a:avLst/>
          </a:prstGeom>
        </p:spPr>
        <p:txBody>
          <a:bodyPr anchor="t" rtlCol="false" tIns="0" lIns="0" bIns="0" rIns="0">
            <a:spAutoFit/>
          </a:bodyPr>
          <a:lstStyle/>
          <a:p>
            <a:pPr algn="l">
              <a:lnSpc>
                <a:spcPts val="6249"/>
              </a:lnSpc>
            </a:pPr>
            <a:r>
              <a:rPr lang="en-US" sz="4999">
                <a:solidFill>
                  <a:srgbClr val="1B1B27"/>
                </a:solidFill>
                <a:latin typeface="Corben"/>
                <a:ea typeface="Corben"/>
                <a:cs typeface="Corben"/>
                <a:sym typeface="Corben"/>
              </a:rPr>
              <a:t>Parallel Assembly</a:t>
            </a:r>
          </a:p>
        </p:txBody>
      </p:sp>
      <p:grpSp>
        <p:nvGrpSpPr>
          <p:cNvPr name="Group 7" id="7"/>
          <p:cNvGrpSpPr/>
          <p:nvPr/>
        </p:nvGrpSpPr>
        <p:grpSpPr>
          <a:xfrm rot="0">
            <a:off x="992238" y="2273499"/>
            <a:ext cx="7840564" cy="6168330"/>
            <a:chOff x="0" y="0"/>
            <a:chExt cx="10454085" cy="8224440"/>
          </a:xfrm>
        </p:grpSpPr>
        <p:sp>
          <p:nvSpPr>
            <p:cNvPr name="Freeform 8" id="8" descr="preencoded.png"/>
            <p:cNvSpPr/>
            <p:nvPr/>
          </p:nvSpPr>
          <p:spPr>
            <a:xfrm flipH="false" flipV="false" rot="0">
              <a:off x="0" y="0"/>
              <a:ext cx="10454132" cy="8224393"/>
            </a:xfrm>
            <a:custGeom>
              <a:avLst/>
              <a:gdLst/>
              <a:ahLst/>
              <a:cxnLst/>
              <a:rect r="r" b="b" t="t" l="l"/>
              <a:pathLst>
                <a:path h="8224393" w="10454132">
                  <a:moveTo>
                    <a:pt x="0" y="0"/>
                  </a:moveTo>
                  <a:lnTo>
                    <a:pt x="10454132" y="0"/>
                  </a:lnTo>
                  <a:lnTo>
                    <a:pt x="10454132" y="8224393"/>
                  </a:lnTo>
                  <a:lnTo>
                    <a:pt x="0" y="8224393"/>
                  </a:lnTo>
                  <a:lnTo>
                    <a:pt x="0" y="0"/>
                  </a:lnTo>
                  <a:close/>
                </a:path>
              </a:pathLst>
            </a:custGeom>
            <a:blipFill>
              <a:blip r:embed="rId3"/>
              <a:stretch>
                <a:fillRect l="0" t="-40" r="0" b="-41"/>
              </a:stretch>
            </a:blipFill>
          </p:spPr>
        </p:sp>
      </p:grpSp>
      <p:sp>
        <p:nvSpPr>
          <p:cNvPr name="TextBox 9" id="9"/>
          <p:cNvSpPr txBox="true"/>
          <p:nvPr/>
        </p:nvSpPr>
        <p:spPr>
          <a:xfrm rot="0">
            <a:off x="992238" y="8652570"/>
            <a:ext cx="7840564" cy="484585"/>
          </a:xfrm>
          <a:prstGeom prst="rect">
            <a:avLst/>
          </a:prstGeom>
        </p:spPr>
        <p:txBody>
          <a:bodyPr anchor="t" rtlCol="false" tIns="0" lIns="0" bIns="0" rIns="0">
            <a:spAutoFit/>
          </a:bodyPr>
          <a:lstStyle/>
          <a:p>
            <a:pPr algn="l">
              <a:lnSpc>
                <a:spcPts val="3187"/>
              </a:lnSpc>
            </a:pPr>
            <a:r>
              <a:rPr lang="en-US" sz="2000" b="true">
                <a:solidFill>
                  <a:srgbClr val="000000"/>
                </a:solidFill>
                <a:latin typeface="Arimo Bold"/>
                <a:ea typeface="Arimo Bold"/>
                <a:cs typeface="Arimo Bold"/>
                <a:sym typeface="Arimo Bold"/>
              </a:rPr>
              <a:t>fig.2 parallel assembly</a:t>
            </a:r>
          </a:p>
        </p:txBody>
      </p:sp>
      <p:grpSp>
        <p:nvGrpSpPr>
          <p:cNvPr name="Group 10" id="10"/>
          <p:cNvGrpSpPr/>
          <p:nvPr/>
        </p:nvGrpSpPr>
        <p:grpSpPr>
          <a:xfrm rot="0">
            <a:off x="9459963" y="2268736"/>
            <a:ext cx="583555" cy="583555"/>
            <a:chOff x="0" y="0"/>
            <a:chExt cx="778073" cy="778073"/>
          </a:xfrm>
        </p:grpSpPr>
        <p:sp>
          <p:nvSpPr>
            <p:cNvPr name="Freeform 11" id="11"/>
            <p:cNvSpPr/>
            <p:nvPr/>
          </p:nvSpPr>
          <p:spPr>
            <a:xfrm flipH="false" flipV="false" rot="0">
              <a:off x="6350" y="6350"/>
              <a:ext cx="765302" cy="765429"/>
            </a:xfrm>
            <a:custGeom>
              <a:avLst/>
              <a:gdLst/>
              <a:ahLst/>
              <a:cxnLst/>
              <a:rect r="r" b="b" t="t" l="l"/>
              <a:pathLst>
                <a:path h="765429" w="765302">
                  <a:moveTo>
                    <a:pt x="0" y="142875"/>
                  </a:moveTo>
                  <a:cubicBezTo>
                    <a:pt x="0" y="64008"/>
                    <a:pt x="64008" y="0"/>
                    <a:pt x="142875" y="0"/>
                  </a:cubicBezTo>
                  <a:lnTo>
                    <a:pt x="622427" y="0"/>
                  </a:lnTo>
                  <a:cubicBezTo>
                    <a:pt x="701294" y="0"/>
                    <a:pt x="765302" y="64008"/>
                    <a:pt x="765302" y="142875"/>
                  </a:cubicBezTo>
                  <a:lnTo>
                    <a:pt x="765302" y="622427"/>
                  </a:lnTo>
                  <a:cubicBezTo>
                    <a:pt x="765302" y="701294"/>
                    <a:pt x="701294" y="765302"/>
                    <a:pt x="622427" y="765302"/>
                  </a:cubicBezTo>
                  <a:lnTo>
                    <a:pt x="142875" y="765302"/>
                  </a:lnTo>
                  <a:cubicBezTo>
                    <a:pt x="64008" y="765429"/>
                    <a:pt x="0" y="701421"/>
                    <a:pt x="0" y="622427"/>
                  </a:cubicBezTo>
                  <a:close/>
                </a:path>
              </a:pathLst>
            </a:custGeom>
            <a:solidFill>
              <a:srgbClr val="D2D9F9"/>
            </a:solidFill>
          </p:spPr>
        </p:sp>
        <p:sp>
          <p:nvSpPr>
            <p:cNvPr name="Freeform 12" id="12"/>
            <p:cNvSpPr/>
            <p:nvPr/>
          </p:nvSpPr>
          <p:spPr>
            <a:xfrm flipH="false" flipV="false" rot="0">
              <a:off x="0" y="0"/>
              <a:ext cx="778129" cy="778129"/>
            </a:xfrm>
            <a:custGeom>
              <a:avLst/>
              <a:gdLst/>
              <a:ahLst/>
              <a:cxnLst/>
              <a:rect r="r" b="b" t="t" l="l"/>
              <a:pathLst>
                <a:path h="778129" w="778129">
                  <a:moveTo>
                    <a:pt x="0" y="149225"/>
                  </a:moveTo>
                  <a:cubicBezTo>
                    <a:pt x="0" y="66802"/>
                    <a:pt x="66802" y="0"/>
                    <a:pt x="149225" y="0"/>
                  </a:cubicBezTo>
                  <a:lnTo>
                    <a:pt x="628777" y="0"/>
                  </a:lnTo>
                  <a:lnTo>
                    <a:pt x="628777" y="6350"/>
                  </a:lnTo>
                  <a:lnTo>
                    <a:pt x="628777" y="0"/>
                  </a:lnTo>
                  <a:cubicBezTo>
                    <a:pt x="711200" y="0"/>
                    <a:pt x="778129" y="66802"/>
                    <a:pt x="778129" y="149225"/>
                  </a:cubicBezTo>
                  <a:lnTo>
                    <a:pt x="771779" y="149225"/>
                  </a:lnTo>
                  <a:lnTo>
                    <a:pt x="778129" y="149225"/>
                  </a:lnTo>
                  <a:lnTo>
                    <a:pt x="778129" y="628777"/>
                  </a:lnTo>
                  <a:lnTo>
                    <a:pt x="771779" y="628777"/>
                  </a:lnTo>
                  <a:lnTo>
                    <a:pt x="778129" y="628777"/>
                  </a:lnTo>
                  <a:cubicBezTo>
                    <a:pt x="778129" y="711200"/>
                    <a:pt x="711200" y="778129"/>
                    <a:pt x="628777" y="778129"/>
                  </a:cubicBezTo>
                  <a:lnTo>
                    <a:pt x="628777" y="771779"/>
                  </a:lnTo>
                  <a:lnTo>
                    <a:pt x="628777" y="778129"/>
                  </a:lnTo>
                  <a:lnTo>
                    <a:pt x="149225" y="778129"/>
                  </a:lnTo>
                  <a:lnTo>
                    <a:pt x="149225" y="771779"/>
                  </a:lnTo>
                  <a:lnTo>
                    <a:pt x="149225" y="778129"/>
                  </a:lnTo>
                  <a:cubicBezTo>
                    <a:pt x="66802" y="778129"/>
                    <a:pt x="0" y="711200"/>
                    <a:pt x="0" y="628777"/>
                  </a:cubicBezTo>
                  <a:lnTo>
                    <a:pt x="0" y="149225"/>
                  </a:lnTo>
                  <a:lnTo>
                    <a:pt x="6350" y="149225"/>
                  </a:lnTo>
                  <a:lnTo>
                    <a:pt x="0" y="149225"/>
                  </a:lnTo>
                  <a:moveTo>
                    <a:pt x="12700" y="149225"/>
                  </a:moveTo>
                  <a:lnTo>
                    <a:pt x="12700" y="628777"/>
                  </a:lnTo>
                  <a:lnTo>
                    <a:pt x="6350" y="628777"/>
                  </a:lnTo>
                  <a:lnTo>
                    <a:pt x="12700" y="628777"/>
                  </a:lnTo>
                  <a:cubicBezTo>
                    <a:pt x="12700" y="704215"/>
                    <a:pt x="73787" y="765302"/>
                    <a:pt x="149225" y="765302"/>
                  </a:cubicBezTo>
                  <a:lnTo>
                    <a:pt x="628777" y="765302"/>
                  </a:lnTo>
                  <a:cubicBezTo>
                    <a:pt x="704215" y="765302"/>
                    <a:pt x="765302" y="704215"/>
                    <a:pt x="765302" y="628777"/>
                  </a:cubicBezTo>
                  <a:lnTo>
                    <a:pt x="765302" y="149225"/>
                  </a:lnTo>
                  <a:cubicBezTo>
                    <a:pt x="765429" y="73787"/>
                    <a:pt x="704215" y="12700"/>
                    <a:pt x="628777" y="12700"/>
                  </a:cubicBezTo>
                  <a:lnTo>
                    <a:pt x="149225" y="12700"/>
                  </a:lnTo>
                  <a:lnTo>
                    <a:pt x="149225" y="6350"/>
                  </a:lnTo>
                  <a:lnTo>
                    <a:pt x="149225" y="12700"/>
                  </a:lnTo>
                  <a:cubicBezTo>
                    <a:pt x="73787" y="12700"/>
                    <a:pt x="12700" y="73787"/>
                    <a:pt x="12700" y="149225"/>
                  </a:cubicBezTo>
                  <a:close/>
                </a:path>
              </a:pathLst>
            </a:custGeom>
            <a:solidFill>
              <a:srgbClr val="B8BFDF"/>
            </a:solidFill>
          </p:spPr>
        </p:sp>
      </p:grpSp>
      <p:sp>
        <p:nvSpPr>
          <p:cNvPr name="TextBox 13" id="13"/>
          <p:cNvSpPr txBox="true"/>
          <p:nvPr/>
        </p:nvSpPr>
        <p:spPr>
          <a:xfrm rot="0">
            <a:off x="9560346" y="2378422"/>
            <a:ext cx="382637" cy="421184"/>
          </a:xfrm>
          <a:prstGeom prst="rect">
            <a:avLst/>
          </a:prstGeom>
        </p:spPr>
        <p:txBody>
          <a:bodyPr anchor="t" rtlCol="false" tIns="0" lIns="0" bIns="0" rIns="0">
            <a:spAutoFit/>
          </a:bodyPr>
          <a:lstStyle/>
          <a:p>
            <a:pPr algn="ctr">
              <a:lnSpc>
                <a:spcPts val="3000"/>
              </a:lnSpc>
            </a:pPr>
            <a:r>
              <a:rPr lang="en-US" sz="3000">
                <a:solidFill>
                  <a:srgbClr val="404155"/>
                </a:solidFill>
                <a:latin typeface="Corben"/>
                <a:ea typeface="Corben"/>
                <a:cs typeface="Corben"/>
                <a:sym typeface="Corben"/>
              </a:rPr>
              <a:t>1</a:t>
            </a:r>
          </a:p>
        </p:txBody>
      </p:sp>
      <p:sp>
        <p:nvSpPr>
          <p:cNvPr name="TextBox 14" id="14"/>
          <p:cNvSpPr txBox="true"/>
          <p:nvPr/>
        </p:nvSpPr>
        <p:spPr>
          <a:xfrm rot="0">
            <a:off x="10293846" y="2342109"/>
            <a:ext cx="3189685" cy="417611"/>
          </a:xfrm>
          <a:prstGeom prst="rect">
            <a:avLst/>
          </a:prstGeom>
        </p:spPr>
        <p:txBody>
          <a:bodyPr anchor="t" rtlCol="false" tIns="0" lIns="0" bIns="0" rIns="0">
            <a:spAutoFit/>
          </a:bodyPr>
          <a:lstStyle/>
          <a:p>
            <a:pPr algn="l">
              <a:lnSpc>
                <a:spcPts val="3124"/>
              </a:lnSpc>
            </a:pPr>
            <a:r>
              <a:rPr lang="en-US" sz="2499">
                <a:solidFill>
                  <a:srgbClr val="404155"/>
                </a:solidFill>
                <a:latin typeface="Corben"/>
                <a:ea typeface="Corben"/>
                <a:cs typeface="Corben"/>
                <a:sym typeface="Corben"/>
              </a:rPr>
              <a:t>Configuration</a:t>
            </a:r>
          </a:p>
        </p:txBody>
      </p:sp>
      <p:sp>
        <p:nvSpPr>
          <p:cNvPr name="TextBox 15" id="15"/>
          <p:cNvSpPr txBox="true"/>
          <p:nvPr/>
        </p:nvSpPr>
        <p:spPr>
          <a:xfrm rot="0">
            <a:off x="10293846" y="2938611"/>
            <a:ext cx="7011441" cy="1301354"/>
          </a:xfrm>
          <a:prstGeom prst="rect">
            <a:avLst/>
          </a:prstGeom>
        </p:spPr>
        <p:txBody>
          <a:bodyPr anchor="t" rtlCol="false" tIns="0" lIns="0" bIns="0" rIns="0">
            <a:spAutoFit/>
          </a:bodyPr>
          <a:lstStyle/>
          <a:p>
            <a:pPr algn="l">
              <a:lnSpc>
                <a:spcPts val="3187"/>
              </a:lnSpc>
            </a:pPr>
            <a:r>
              <a:rPr lang="en-US" sz="2000">
                <a:solidFill>
                  <a:srgbClr val="404155"/>
                </a:solidFill>
                <a:latin typeface="Arimo"/>
                <a:ea typeface="Arimo"/>
                <a:cs typeface="Arimo"/>
                <a:sym typeface="Arimo"/>
              </a:rPr>
              <a:t>Three individual pouch cells were configured in a parallel arrangement to increase the overall current capacity of the unit.</a:t>
            </a:r>
          </a:p>
        </p:txBody>
      </p:sp>
      <p:grpSp>
        <p:nvGrpSpPr>
          <p:cNvPr name="Group 16" id="16"/>
          <p:cNvGrpSpPr/>
          <p:nvPr/>
        </p:nvGrpSpPr>
        <p:grpSpPr>
          <a:xfrm rot="0">
            <a:off x="9459963" y="4745534"/>
            <a:ext cx="583555" cy="583555"/>
            <a:chOff x="0" y="0"/>
            <a:chExt cx="778073" cy="778073"/>
          </a:xfrm>
        </p:grpSpPr>
        <p:sp>
          <p:nvSpPr>
            <p:cNvPr name="Freeform 17" id="17"/>
            <p:cNvSpPr/>
            <p:nvPr/>
          </p:nvSpPr>
          <p:spPr>
            <a:xfrm flipH="false" flipV="false" rot="0">
              <a:off x="6350" y="6350"/>
              <a:ext cx="765302" cy="765429"/>
            </a:xfrm>
            <a:custGeom>
              <a:avLst/>
              <a:gdLst/>
              <a:ahLst/>
              <a:cxnLst/>
              <a:rect r="r" b="b" t="t" l="l"/>
              <a:pathLst>
                <a:path h="765429" w="765302">
                  <a:moveTo>
                    <a:pt x="0" y="142875"/>
                  </a:moveTo>
                  <a:cubicBezTo>
                    <a:pt x="0" y="64008"/>
                    <a:pt x="64008" y="0"/>
                    <a:pt x="142875" y="0"/>
                  </a:cubicBezTo>
                  <a:lnTo>
                    <a:pt x="622427" y="0"/>
                  </a:lnTo>
                  <a:cubicBezTo>
                    <a:pt x="701294" y="0"/>
                    <a:pt x="765302" y="64008"/>
                    <a:pt x="765302" y="142875"/>
                  </a:cubicBezTo>
                  <a:lnTo>
                    <a:pt x="765302" y="622427"/>
                  </a:lnTo>
                  <a:cubicBezTo>
                    <a:pt x="765302" y="701294"/>
                    <a:pt x="701294" y="765302"/>
                    <a:pt x="622427" y="765302"/>
                  </a:cubicBezTo>
                  <a:lnTo>
                    <a:pt x="142875" y="765302"/>
                  </a:lnTo>
                  <a:cubicBezTo>
                    <a:pt x="64008" y="765429"/>
                    <a:pt x="0" y="701421"/>
                    <a:pt x="0" y="622427"/>
                  </a:cubicBezTo>
                  <a:close/>
                </a:path>
              </a:pathLst>
            </a:custGeom>
            <a:solidFill>
              <a:srgbClr val="D2D9F9"/>
            </a:solidFill>
          </p:spPr>
        </p:sp>
        <p:sp>
          <p:nvSpPr>
            <p:cNvPr name="Freeform 18" id="18"/>
            <p:cNvSpPr/>
            <p:nvPr/>
          </p:nvSpPr>
          <p:spPr>
            <a:xfrm flipH="false" flipV="false" rot="0">
              <a:off x="0" y="0"/>
              <a:ext cx="778129" cy="778129"/>
            </a:xfrm>
            <a:custGeom>
              <a:avLst/>
              <a:gdLst/>
              <a:ahLst/>
              <a:cxnLst/>
              <a:rect r="r" b="b" t="t" l="l"/>
              <a:pathLst>
                <a:path h="778129" w="778129">
                  <a:moveTo>
                    <a:pt x="0" y="149225"/>
                  </a:moveTo>
                  <a:cubicBezTo>
                    <a:pt x="0" y="66802"/>
                    <a:pt x="66802" y="0"/>
                    <a:pt x="149225" y="0"/>
                  </a:cubicBezTo>
                  <a:lnTo>
                    <a:pt x="628777" y="0"/>
                  </a:lnTo>
                  <a:lnTo>
                    <a:pt x="628777" y="6350"/>
                  </a:lnTo>
                  <a:lnTo>
                    <a:pt x="628777" y="0"/>
                  </a:lnTo>
                  <a:cubicBezTo>
                    <a:pt x="711200" y="0"/>
                    <a:pt x="778129" y="66802"/>
                    <a:pt x="778129" y="149225"/>
                  </a:cubicBezTo>
                  <a:lnTo>
                    <a:pt x="771779" y="149225"/>
                  </a:lnTo>
                  <a:lnTo>
                    <a:pt x="778129" y="149225"/>
                  </a:lnTo>
                  <a:lnTo>
                    <a:pt x="778129" y="628777"/>
                  </a:lnTo>
                  <a:lnTo>
                    <a:pt x="771779" y="628777"/>
                  </a:lnTo>
                  <a:lnTo>
                    <a:pt x="778129" y="628777"/>
                  </a:lnTo>
                  <a:cubicBezTo>
                    <a:pt x="778129" y="711200"/>
                    <a:pt x="711200" y="778129"/>
                    <a:pt x="628777" y="778129"/>
                  </a:cubicBezTo>
                  <a:lnTo>
                    <a:pt x="628777" y="771779"/>
                  </a:lnTo>
                  <a:lnTo>
                    <a:pt x="628777" y="778129"/>
                  </a:lnTo>
                  <a:lnTo>
                    <a:pt x="149225" y="778129"/>
                  </a:lnTo>
                  <a:lnTo>
                    <a:pt x="149225" y="771779"/>
                  </a:lnTo>
                  <a:lnTo>
                    <a:pt x="149225" y="778129"/>
                  </a:lnTo>
                  <a:cubicBezTo>
                    <a:pt x="66802" y="778129"/>
                    <a:pt x="0" y="711200"/>
                    <a:pt x="0" y="628777"/>
                  </a:cubicBezTo>
                  <a:lnTo>
                    <a:pt x="0" y="149225"/>
                  </a:lnTo>
                  <a:lnTo>
                    <a:pt x="6350" y="149225"/>
                  </a:lnTo>
                  <a:lnTo>
                    <a:pt x="0" y="149225"/>
                  </a:lnTo>
                  <a:moveTo>
                    <a:pt x="12700" y="149225"/>
                  </a:moveTo>
                  <a:lnTo>
                    <a:pt x="12700" y="628777"/>
                  </a:lnTo>
                  <a:lnTo>
                    <a:pt x="6350" y="628777"/>
                  </a:lnTo>
                  <a:lnTo>
                    <a:pt x="12700" y="628777"/>
                  </a:lnTo>
                  <a:cubicBezTo>
                    <a:pt x="12700" y="704215"/>
                    <a:pt x="73787" y="765302"/>
                    <a:pt x="149225" y="765302"/>
                  </a:cubicBezTo>
                  <a:lnTo>
                    <a:pt x="628777" y="765302"/>
                  </a:lnTo>
                  <a:cubicBezTo>
                    <a:pt x="704215" y="765302"/>
                    <a:pt x="765302" y="704215"/>
                    <a:pt x="765302" y="628777"/>
                  </a:cubicBezTo>
                  <a:lnTo>
                    <a:pt x="765302" y="149225"/>
                  </a:lnTo>
                  <a:cubicBezTo>
                    <a:pt x="765429" y="73787"/>
                    <a:pt x="704215" y="12700"/>
                    <a:pt x="628777" y="12700"/>
                  </a:cubicBezTo>
                  <a:lnTo>
                    <a:pt x="149225" y="12700"/>
                  </a:lnTo>
                  <a:lnTo>
                    <a:pt x="149225" y="6350"/>
                  </a:lnTo>
                  <a:lnTo>
                    <a:pt x="149225" y="12700"/>
                  </a:lnTo>
                  <a:cubicBezTo>
                    <a:pt x="73787" y="12700"/>
                    <a:pt x="12700" y="73787"/>
                    <a:pt x="12700" y="149225"/>
                  </a:cubicBezTo>
                  <a:close/>
                </a:path>
              </a:pathLst>
            </a:custGeom>
            <a:solidFill>
              <a:srgbClr val="B8BFDF"/>
            </a:solidFill>
          </p:spPr>
        </p:sp>
      </p:grpSp>
      <p:sp>
        <p:nvSpPr>
          <p:cNvPr name="TextBox 19" id="19"/>
          <p:cNvSpPr txBox="true"/>
          <p:nvPr/>
        </p:nvSpPr>
        <p:spPr>
          <a:xfrm rot="0">
            <a:off x="9560346" y="4855220"/>
            <a:ext cx="382637" cy="421184"/>
          </a:xfrm>
          <a:prstGeom prst="rect">
            <a:avLst/>
          </a:prstGeom>
        </p:spPr>
        <p:txBody>
          <a:bodyPr anchor="t" rtlCol="false" tIns="0" lIns="0" bIns="0" rIns="0">
            <a:spAutoFit/>
          </a:bodyPr>
          <a:lstStyle/>
          <a:p>
            <a:pPr algn="ctr">
              <a:lnSpc>
                <a:spcPts val="3000"/>
              </a:lnSpc>
            </a:pPr>
            <a:r>
              <a:rPr lang="en-US" sz="3000">
                <a:solidFill>
                  <a:srgbClr val="404155"/>
                </a:solidFill>
                <a:latin typeface="Corben"/>
                <a:ea typeface="Corben"/>
                <a:cs typeface="Corben"/>
                <a:sym typeface="Corben"/>
              </a:rPr>
              <a:t>2</a:t>
            </a:r>
          </a:p>
        </p:txBody>
      </p:sp>
      <p:sp>
        <p:nvSpPr>
          <p:cNvPr name="TextBox 20" id="20"/>
          <p:cNvSpPr txBox="true"/>
          <p:nvPr/>
        </p:nvSpPr>
        <p:spPr>
          <a:xfrm rot="0">
            <a:off x="10293846" y="4818906"/>
            <a:ext cx="3189685" cy="417611"/>
          </a:xfrm>
          <a:prstGeom prst="rect">
            <a:avLst/>
          </a:prstGeom>
        </p:spPr>
        <p:txBody>
          <a:bodyPr anchor="t" rtlCol="false" tIns="0" lIns="0" bIns="0" rIns="0">
            <a:spAutoFit/>
          </a:bodyPr>
          <a:lstStyle/>
          <a:p>
            <a:pPr algn="l">
              <a:lnSpc>
                <a:spcPts val="3124"/>
              </a:lnSpc>
            </a:pPr>
            <a:r>
              <a:rPr lang="en-US" sz="2499">
                <a:solidFill>
                  <a:srgbClr val="404155"/>
                </a:solidFill>
                <a:latin typeface="Corben"/>
                <a:ea typeface="Corben"/>
                <a:cs typeface="Corben"/>
                <a:sym typeface="Corben"/>
              </a:rPr>
              <a:t>Function Utilization</a:t>
            </a:r>
          </a:p>
        </p:txBody>
      </p:sp>
      <p:sp>
        <p:nvSpPr>
          <p:cNvPr name="TextBox 21" id="21"/>
          <p:cNvSpPr txBox="true"/>
          <p:nvPr/>
        </p:nvSpPr>
        <p:spPr>
          <a:xfrm rot="0">
            <a:off x="10293846" y="5415409"/>
            <a:ext cx="7011441" cy="1301354"/>
          </a:xfrm>
          <a:prstGeom prst="rect">
            <a:avLst/>
          </a:prstGeom>
        </p:spPr>
        <p:txBody>
          <a:bodyPr anchor="t" rtlCol="false" tIns="0" lIns="0" bIns="0" rIns="0">
            <a:spAutoFit/>
          </a:bodyPr>
          <a:lstStyle/>
          <a:p>
            <a:pPr algn="l">
              <a:lnSpc>
                <a:spcPts val="3187"/>
              </a:lnSpc>
            </a:pPr>
            <a:r>
              <a:rPr lang="en-US" sz="2000">
                <a:solidFill>
                  <a:srgbClr val="404155"/>
                </a:solidFill>
                <a:latin typeface="Arimo"/>
                <a:ea typeface="Arimo"/>
                <a:cs typeface="Arimo"/>
                <a:sym typeface="Arimo"/>
              </a:rPr>
              <a:t>The 'batteryParallelAssembly' function was instrumental in defining the electrical and physical connections between the parallel cells.</a:t>
            </a:r>
          </a:p>
        </p:txBody>
      </p:sp>
      <p:grpSp>
        <p:nvGrpSpPr>
          <p:cNvPr name="Group 22" id="22"/>
          <p:cNvGrpSpPr/>
          <p:nvPr/>
        </p:nvGrpSpPr>
        <p:grpSpPr>
          <a:xfrm rot="0">
            <a:off x="9459963" y="7222331"/>
            <a:ext cx="583555" cy="583555"/>
            <a:chOff x="0" y="0"/>
            <a:chExt cx="778073" cy="778073"/>
          </a:xfrm>
        </p:grpSpPr>
        <p:sp>
          <p:nvSpPr>
            <p:cNvPr name="Freeform 23" id="23"/>
            <p:cNvSpPr/>
            <p:nvPr/>
          </p:nvSpPr>
          <p:spPr>
            <a:xfrm flipH="false" flipV="false" rot="0">
              <a:off x="6350" y="6350"/>
              <a:ext cx="765302" cy="765429"/>
            </a:xfrm>
            <a:custGeom>
              <a:avLst/>
              <a:gdLst/>
              <a:ahLst/>
              <a:cxnLst/>
              <a:rect r="r" b="b" t="t" l="l"/>
              <a:pathLst>
                <a:path h="765429" w="765302">
                  <a:moveTo>
                    <a:pt x="0" y="142875"/>
                  </a:moveTo>
                  <a:cubicBezTo>
                    <a:pt x="0" y="64008"/>
                    <a:pt x="64008" y="0"/>
                    <a:pt x="142875" y="0"/>
                  </a:cubicBezTo>
                  <a:lnTo>
                    <a:pt x="622427" y="0"/>
                  </a:lnTo>
                  <a:cubicBezTo>
                    <a:pt x="701294" y="0"/>
                    <a:pt x="765302" y="64008"/>
                    <a:pt x="765302" y="142875"/>
                  </a:cubicBezTo>
                  <a:lnTo>
                    <a:pt x="765302" y="622427"/>
                  </a:lnTo>
                  <a:cubicBezTo>
                    <a:pt x="765302" y="701294"/>
                    <a:pt x="701294" y="765302"/>
                    <a:pt x="622427" y="765302"/>
                  </a:cubicBezTo>
                  <a:lnTo>
                    <a:pt x="142875" y="765302"/>
                  </a:lnTo>
                  <a:cubicBezTo>
                    <a:pt x="64008" y="765429"/>
                    <a:pt x="0" y="701421"/>
                    <a:pt x="0" y="622427"/>
                  </a:cubicBezTo>
                  <a:close/>
                </a:path>
              </a:pathLst>
            </a:custGeom>
            <a:solidFill>
              <a:srgbClr val="D2D9F9"/>
            </a:solidFill>
          </p:spPr>
        </p:sp>
        <p:sp>
          <p:nvSpPr>
            <p:cNvPr name="Freeform 24" id="24"/>
            <p:cNvSpPr/>
            <p:nvPr/>
          </p:nvSpPr>
          <p:spPr>
            <a:xfrm flipH="false" flipV="false" rot="0">
              <a:off x="0" y="0"/>
              <a:ext cx="778129" cy="778129"/>
            </a:xfrm>
            <a:custGeom>
              <a:avLst/>
              <a:gdLst/>
              <a:ahLst/>
              <a:cxnLst/>
              <a:rect r="r" b="b" t="t" l="l"/>
              <a:pathLst>
                <a:path h="778129" w="778129">
                  <a:moveTo>
                    <a:pt x="0" y="149225"/>
                  </a:moveTo>
                  <a:cubicBezTo>
                    <a:pt x="0" y="66802"/>
                    <a:pt x="66802" y="0"/>
                    <a:pt x="149225" y="0"/>
                  </a:cubicBezTo>
                  <a:lnTo>
                    <a:pt x="628777" y="0"/>
                  </a:lnTo>
                  <a:lnTo>
                    <a:pt x="628777" y="6350"/>
                  </a:lnTo>
                  <a:lnTo>
                    <a:pt x="628777" y="0"/>
                  </a:lnTo>
                  <a:cubicBezTo>
                    <a:pt x="711200" y="0"/>
                    <a:pt x="778129" y="66802"/>
                    <a:pt x="778129" y="149225"/>
                  </a:cubicBezTo>
                  <a:lnTo>
                    <a:pt x="771779" y="149225"/>
                  </a:lnTo>
                  <a:lnTo>
                    <a:pt x="778129" y="149225"/>
                  </a:lnTo>
                  <a:lnTo>
                    <a:pt x="778129" y="628777"/>
                  </a:lnTo>
                  <a:lnTo>
                    <a:pt x="771779" y="628777"/>
                  </a:lnTo>
                  <a:lnTo>
                    <a:pt x="778129" y="628777"/>
                  </a:lnTo>
                  <a:cubicBezTo>
                    <a:pt x="778129" y="711200"/>
                    <a:pt x="711200" y="778129"/>
                    <a:pt x="628777" y="778129"/>
                  </a:cubicBezTo>
                  <a:lnTo>
                    <a:pt x="628777" y="771779"/>
                  </a:lnTo>
                  <a:lnTo>
                    <a:pt x="628777" y="778129"/>
                  </a:lnTo>
                  <a:lnTo>
                    <a:pt x="149225" y="778129"/>
                  </a:lnTo>
                  <a:lnTo>
                    <a:pt x="149225" y="771779"/>
                  </a:lnTo>
                  <a:lnTo>
                    <a:pt x="149225" y="778129"/>
                  </a:lnTo>
                  <a:cubicBezTo>
                    <a:pt x="66802" y="778129"/>
                    <a:pt x="0" y="711200"/>
                    <a:pt x="0" y="628777"/>
                  </a:cubicBezTo>
                  <a:lnTo>
                    <a:pt x="0" y="149225"/>
                  </a:lnTo>
                  <a:lnTo>
                    <a:pt x="6350" y="149225"/>
                  </a:lnTo>
                  <a:lnTo>
                    <a:pt x="0" y="149225"/>
                  </a:lnTo>
                  <a:moveTo>
                    <a:pt x="12700" y="149225"/>
                  </a:moveTo>
                  <a:lnTo>
                    <a:pt x="12700" y="628777"/>
                  </a:lnTo>
                  <a:lnTo>
                    <a:pt x="6350" y="628777"/>
                  </a:lnTo>
                  <a:lnTo>
                    <a:pt x="12700" y="628777"/>
                  </a:lnTo>
                  <a:cubicBezTo>
                    <a:pt x="12700" y="704215"/>
                    <a:pt x="73787" y="765302"/>
                    <a:pt x="149225" y="765302"/>
                  </a:cubicBezTo>
                  <a:lnTo>
                    <a:pt x="628777" y="765302"/>
                  </a:lnTo>
                  <a:cubicBezTo>
                    <a:pt x="704215" y="765302"/>
                    <a:pt x="765302" y="704215"/>
                    <a:pt x="765302" y="628777"/>
                  </a:cubicBezTo>
                  <a:lnTo>
                    <a:pt x="765302" y="149225"/>
                  </a:lnTo>
                  <a:cubicBezTo>
                    <a:pt x="765429" y="73787"/>
                    <a:pt x="704215" y="12700"/>
                    <a:pt x="628777" y="12700"/>
                  </a:cubicBezTo>
                  <a:lnTo>
                    <a:pt x="149225" y="12700"/>
                  </a:lnTo>
                  <a:lnTo>
                    <a:pt x="149225" y="6350"/>
                  </a:lnTo>
                  <a:lnTo>
                    <a:pt x="149225" y="12700"/>
                  </a:lnTo>
                  <a:cubicBezTo>
                    <a:pt x="73787" y="12700"/>
                    <a:pt x="12700" y="73787"/>
                    <a:pt x="12700" y="149225"/>
                  </a:cubicBezTo>
                  <a:close/>
                </a:path>
              </a:pathLst>
            </a:custGeom>
            <a:solidFill>
              <a:srgbClr val="B8BFDF"/>
            </a:solidFill>
          </p:spPr>
        </p:sp>
      </p:grpSp>
      <p:sp>
        <p:nvSpPr>
          <p:cNvPr name="TextBox 25" id="25"/>
          <p:cNvSpPr txBox="true"/>
          <p:nvPr/>
        </p:nvSpPr>
        <p:spPr>
          <a:xfrm rot="0">
            <a:off x="9560346" y="7332017"/>
            <a:ext cx="382637" cy="421184"/>
          </a:xfrm>
          <a:prstGeom prst="rect">
            <a:avLst/>
          </a:prstGeom>
        </p:spPr>
        <p:txBody>
          <a:bodyPr anchor="t" rtlCol="false" tIns="0" lIns="0" bIns="0" rIns="0">
            <a:spAutoFit/>
          </a:bodyPr>
          <a:lstStyle/>
          <a:p>
            <a:pPr algn="ctr">
              <a:lnSpc>
                <a:spcPts val="3000"/>
              </a:lnSpc>
            </a:pPr>
            <a:r>
              <a:rPr lang="en-US" sz="3000">
                <a:solidFill>
                  <a:srgbClr val="404155"/>
                </a:solidFill>
                <a:latin typeface="Corben"/>
                <a:ea typeface="Corben"/>
                <a:cs typeface="Corben"/>
                <a:sym typeface="Corben"/>
              </a:rPr>
              <a:t>3</a:t>
            </a:r>
          </a:p>
        </p:txBody>
      </p:sp>
      <p:sp>
        <p:nvSpPr>
          <p:cNvPr name="TextBox 26" id="26"/>
          <p:cNvSpPr txBox="true"/>
          <p:nvPr/>
        </p:nvSpPr>
        <p:spPr>
          <a:xfrm rot="0">
            <a:off x="10293846" y="7295704"/>
            <a:ext cx="3189685" cy="417611"/>
          </a:xfrm>
          <a:prstGeom prst="rect">
            <a:avLst/>
          </a:prstGeom>
        </p:spPr>
        <p:txBody>
          <a:bodyPr anchor="t" rtlCol="false" tIns="0" lIns="0" bIns="0" rIns="0">
            <a:spAutoFit/>
          </a:bodyPr>
          <a:lstStyle/>
          <a:p>
            <a:pPr algn="l">
              <a:lnSpc>
                <a:spcPts val="3124"/>
              </a:lnSpc>
            </a:pPr>
            <a:r>
              <a:rPr lang="en-US" sz="2499">
                <a:solidFill>
                  <a:srgbClr val="404155"/>
                </a:solidFill>
                <a:latin typeface="Corben"/>
                <a:ea typeface="Corben"/>
                <a:cs typeface="Corben"/>
                <a:sym typeface="Corben"/>
              </a:rPr>
              <a:t>Structural Validation</a:t>
            </a:r>
          </a:p>
        </p:txBody>
      </p:sp>
      <p:sp>
        <p:nvSpPr>
          <p:cNvPr name="TextBox 27" id="27"/>
          <p:cNvSpPr txBox="true"/>
          <p:nvPr/>
        </p:nvSpPr>
        <p:spPr>
          <a:xfrm rot="0">
            <a:off x="10293846" y="7892206"/>
            <a:ext cx="7011441" cy="1301354"/>
          </a:xfrm>
          <a:prstGeom prst="rect">
            <a:avLst/>
          </a:prstGeom>
        </p:spPr>
        <p:txBody>
          <a:bodyPr anchor="t" rtlCol="false" tIns="0" lIns="0" bIns="0" rIns="0">
            <a:spAutoFit/>
          </a:bodyPr>
          <a:lstStyle/>
          <a:p>
            <a:pPr algn="l">
              <a:lnSpc>
                <a:spcPts val="3187"/>
              </a:lnSpc>
            </a:pPr>
            <a:r>
              <a:rPr lang="en-US" sz="2000">
                <a:solidFill>
                  <a:srgbClr val="404155"/>
                </a:solidFill>
                <a:latin typeface="Arimo"/>
                <a:ea typeface="Arimo"/>
                <a:cs typeface="Arimo"/>
                <a:sym typeface="Arimo"/>
              </a:rPr>
              <a:t>Visual inspection via 'batteryChart' ensured the assembly's geometric integrity and proper alignment of components.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9FF">
                <a:alpha val="90196"/>
              </a:srgbClr>
            </a:solidFill>
          </p:spPr>
        </p:sp>
      </p:grpSp>
      <p:sp>
        <p:nvSpPr>
          <p:cNvPr name="TextBox 6" id="6"/>
          <p:cNvSpPr txBox="true"/>
          <p:nvPr/>
        </p:nvSpPr>
        <p:spPr>
          <a:xfrm rot="0">
            <a:off x="909786" y="695771"/>
            <a:ext cx="4224040" cy="546944"/>
          </a:xfrm>
          <a:prstGeom prst="rect">
            <a:avLst/>
          </a:prstGeom>
        </p:spPr>
        <p:txBody>
          <a:bodyPr anchor="t" rtlCol="false" tIns="0" lIns="0" bIns="0" rIns="0">
            <a:spAutoFit/>
          </a:bodyPr>
          <a:lstStyle/>
          <a:p>
            <a:pPr algn="l">
              <a:lnSpc>
                <a:spcPts val="4125"/>
              </a:lnSpc>
            </a:pPr>
            <a:r>
              <a:rPr lang="en-US" sz="3312">
                <a:solidFill>
                  <a:srgbClr val="1B1B27"/>
                </a:solidFill>
                <a:latin typeface="Corben"/>
                <a:ea typeface="Corben"/>
                <a:cs typeface="Corben"/>
                <a:sym typeface="Corben"/>
              </a:rPr>
              <a:t>Battery Module</a:t>
            </a:r>
          </a:p>
        </p:txBody>
      </p:sp>
      <p:grpSp>
        <p:nvGrpSpPr>
          <p:cNvPr name="Group 7" id="7"/>
          <p:cNvGrpSpPr/>
          <p:nvPr/>
        </p:nvGrpSpPr>
        <p:grpSpPr>
          <a:xfrm rot="0">
            <a:off x="905024" y="1681311"/>
            <a:ext cx="389633" cy="389633"/>
            <a:chOff x="0" y="0"/>
            <a:chExt cx="519510" cy="519510"/>
          </a:xfrm>
        </p:grpSpPr>
        <p:sp>
          <p:nvSpPr>
            <p:cNvPr name="Freeform 8" id="8"/>
            <p:cNvSpPr/>
            <p:nvPr/>
          </p:nvSpPr>
          <p:spPr>
            <a:xfrm flipH="false" flipV="false" rot="0">
              <a:off x="6350" y="6350"/>
              <a:ext cx="506857" cy="506857"/>
            </a:xfrm>
            <a:custGeom>
              <a:avLst/>
              <a:gdLst/>
              <a:ahLst/>
              <a:cxnLst/>
              <a:rect r="r" b="b" t="t" l="l"/>
              <a:pathLst>
                <a:path h="506857" w="506857">
                  <a:moveTo>
                    <a:pt x="0" y="94615"/>
                  </a:moveTo>
                  <a:cubicBezTo>
                    <a:pt x="0" y="42418"/>
                    <a:pt x="42418" y="0"/>
                    <a:pt x="94615" y="0"/>
                  </a:cubicBezTo>
                  <a:lnTo>
                    <a:pt x="412242" y="0"/>
                  </a:lnTo>
                  <a:cubicBezTo>
                    <a:pt x="464439" y="0"/>
                    <a:pt x="506857" y="42418"/>
                    <a:pt x="506857" y="94615"/>
                  </a:cubicBezTo>
                  <a:lnTo>
                    <a:pt x="506857" y="412242"/>
                  </a:lnTo>
                  <a:cubicBezTo>
                    <a:pt x="506857" y="464439"/>
                    <a:pt x="464439" y="506857"/>
                    <a:pt x="412242" y="506857"/>
                  </a:cubicBezTo>
                  <a:lnTo>
                    <a:pt x="94615" y="506857"/>
                  </a:lnTo>
                  <a:cubicBezTo>
                    <a:pt x="42418" y="506857"/>
                    <a:pt x="0" y="464439"/>
                    <a:pt x="0" y="412242"/>
                  </a:cubicBezTo>
                  <a:close/>
                </a:path>
              </a:pathLst>
            </a:custGeom>
            <a:solidFill>
              <a:srgbClr val="F9F9FF"/>
            </a:solidFill>
          </p:spPr>
        </p:sp>
        <p:sp>
          <p:nvSpPr>
            <p:cNvPr name="Freeform 9" id="9"/>
            <p:cNvSpPr/>
            <p:nvPr/>
          </p:nvSpPr>
          <p:spPr>
            <a:xfrm flipH="false" flipV="false" rot="0">
              <a:off x="0" y="0"/>
              <a:ext cx="519557" cy="519557"/>
            </a:xfrm>
            <a:custGeom>
              <a:avLst/>
              <a:gdLst/>
              <a:ahLst/>
              <a:cxnLst/>
              <a:rect r="r" b="b" t="t" l="l"/>
              <a:pathLst>
                <a:path h="519557" w="519557">
                  <a:moveTo>
                    <a:pt x="0" y="100965"/>
                  </a:moveTo>
                  <a:cubicBezTo>
                    <a:pt x="0" y="45212"/>
                    <a:pt x="45212" y="0"/>
                    <a:pt x="100965" y="0"/>
                  </a:cubicBezTo>
                  <a:lnTo>
                    <a:pt x="418592" y="0"/>
                  </a:lnTo>
                  <a:lnTo>
                    <a:pt x="418592" y="6350"/>
                  </a:lnTo>
                  <a:lnTo>
                    <a:pt x="418592" y="0"/>
                  </a:lnTo>
                  <a:lnTo>
                    <a:pt x="418592" y="6350"/>
                  </a:lnTo>
                  <a:lnTo>
                    <a:pt x="418592" y="0"/>
                  </a:lnTo>
                  <a:cubicBezTo>
                    <a:pt x="474345" y="0"/>
                    <a:pt x="519557" y="45212"/>
                    <a:pt x="519557" y="100965"/>
                  </a:cubicBezTo>
                  <a:lnTo>
                    <a:pt x="519557" y="418592"/>
                  </a:lnTo>
                  <a:lnTo>
                    <a:pt x="513207" y="418592"/>
                  </a:lnTo>
                  <a:lnTo>
                    <a:pt x="519557" y="418592"/>
                  </a:lnTo>
                  <a:cubicBezTo>
                    <a:pt x="519557" y="474345"/>
                    <a:pt x="474345" y="519557"/>
                    <a:pt x="418592" y="519557"/>
                  </a:cubicBezTo>
                  <a:lnTo>
                    <a:pt x="418592" y="513207"/>
                  </a:lnTo>
                  <a:lnTo>
                    <a:pt x="418592" y="519557"/>
                  </a:lnTo>
                  <a:lnTo>
                    <a:pt x="100965" y="519557"/>
                  </a:lnTo>
                  <a:lnTo>
                    <a:pt x="100965" y="513207"/>
                  </a:lnTo>
                  <a:lnTo>
                    <a:pt x="100965" y="519557"/>
                  </a:lnTo>
                  <a:cubicBezTo>
                    <a:pt x="45212" y="519557"/>
                    <a:pt x="0" y="474345"/>
                    <a:pt x="0" y="418592"/>
                  </a:cubicBezTo>
                  <a:lnTo>
                    <a:pt x="0" y="100965"/>
                  </a:lnTo>
                  <a:lnTo>
                    <a:pt x="6350" y="100965"/>
                  </a:lnTo>
                  <a:lnTo>
                    <a:pt x="0" y="100965"/>
                  </a:lnTo>
                  <a:moveTo>
                    <a:pt x="12700" y="100965"/>
                  </a:moveTo>
                  <a:lnTo>
                    <a:pt x="12700" y="418592"/>
                  </a:lnTo>
                  <a:lnTo>
                    <a:pt x="6350" y="418592"/>
                  </a:lnTo>
                  <a:lnTo>
                    <a:pt x="12700" y="418592"/>
                  </a:lnTo>
                  <a:cubicBezTo>
                    <a:pt x="12700" y="467360"/>
                    <a:pt x="52197" y="506857"/>
                    <a:pt x="100965" y="506857"/>
                  </a:cubicBezTo>
                  <a:lnTo>
                    <a:pt x="418592" y="506857"/>
                  </a:lnTo>
                  <a:cubicBezTo>
                    <a:pt x="467360" y="506857"/>
                    <a:pt x="506857" y="467360"/>
                    <a:pt x="506857" y="418592"/>
                  </a:cubicBezTo>
                  <a:lnTo>
                    <a:pt x="506857" y="100965"/>
                  </a:lnTo>
                  <a:lnTo>
                    <a:pt x="513207" y="100965"/>
                  </a:lnTo>
                  <a:lnTo>
                    <a:pt x="506857" y="100965"/>
                  </a:lnTo>
                  <a:cubicBezTo>
                    <a:pt x="506857" y="52197"/>
                    <a:pt x="467233" y="12700"/>
                    <a:pt x="418592" y="12700"/>
                  </a:cubicBezTo>
                  <a:lnTo>
                    <a:pt x="100965" y="12700"/>
                  </a:lnTo>
                  <a:lnTo>
                    <a:pt x="100965" y="6350"/>
                  </a:lnTo>
                  <a:lnTo>
                    <a:pt x="100965" y="12700"/>
                  </a:lnTo>
                  <a:cubicBezTo>
                    <a:pt x="52197" y="12700"/>
                    <a:pt x="12700" y="52197"/>
                    <a:pt x="12700" y="100965"/>
                  </a:cubicBezTo>
                  <a:close/>
                </a:path>
              </a:pathLst>
            </a:custGeom>
            <a:solidFill>
              <a:srgbClr val="DFDFE5"/>
            </a:solidFill>
          </p:spPr>
        </p:sp>
      </p:grpSp>
      <p:sp>
        <p:nvSpPr>
          <p:cNvPr name="TextBox 10" id="10"/>
          <p:cNvSpPr txBox="true"/>
          <p:nvPr/>
        </p:nvSpPr>
        <p:spPr>
          <a:xfrm rot="0">
            <a:off x="973188" y="1755874"/>
            <a:ext cx="253305" cy="278606"/>
          </a:xfrm>
          <a:prstGeom prst="rect">
            <a:avLst/>
          </a:prstGeom>
        </p:spPr>
        <p:txBody>
          <a:bodyPr anchor="t" rtlCol="false" tIns="0" lIns="0" bIns="0" rIns="0">
            <a:spAutoFit/>
          </a:bodyPr>
          <a:lstStyle/>
          <a:p>
            <a:pPr algn="ctr">
              <a:lnSpc>
                <a:spcPts val="1937"/>
              </a:lnSpc>
            </a:pPr>
            <a:r>
              <a:rPr lang="en-US" sz="1937">
                <a:solidFill>
                  <a:srgbClr val="000000"/>
                </a:solidFill>
                <a:latin typeface="Corben"/>
                <a:ea typeface="Corben"/>
                <a:cs typeface="Corben"/>
                <a:sym typeface="Corben"/>
              </a:rPr>
              <a:t>1</a:t>
            </a:r>
          </a:p>
        </p:txBody>
      </p:sp>
      <p:sp>
        <p:nvSpPr>
          <p:cNvPr name="TextBox 11" id="11"/>
          <p:cNvSpPr txBox="true"/>
          <p:nvPr/>
        </p:nvSpPr>
        <p:spPr>
          <a:xfrm rot="0">
            <a:off x="1458814" y="1734591"/>
            <a:ext cx="2112020" cy="273397"/>
          </a:xfrm>
          <a:prstGeom prst="rect">
            <a:avLst/>
          </a:prstGeom>
        </p:spPr>
        <p:txBody>
          <a:bodyPr anchor="t" rtlCol="false" tIns="0" lIns="0" bIns="0" rIns="0">
            <a:spAutoFit/>
          </a:bodyPr>
          <a:lstStyle/>
          <a:p>
            <a:pPr algn="l">
              <a:lnSpc>
                <a:spcPts val="2062"/>
              </a:lnSpc>
            </a:pPr>
            <a:r>
              <a:rPr lang="en-US" sz="1625">
                <a:solidFill>
                  <a:srgbClr val="404155"/>
                </a:solidFill>
                <a:latin typeface="Corben"/>
                <a:ea typeface="Corben"/>
                <a:cs typeface="Corben"/>
                <a:sym typeface="Corben"/>
              </a:rPr>
              <a:t>Series Connection</a:t>
            </a:r>
          </a:p>
        </p:txBody>
      </p:sp>
      <p:sp>
        <p:nvSpPr>
          <p:cNvPr name="TextBox 12" id="12"/>
          <p:cNvSpPr txBox="true"/>
          <p:nvPr/>
        </p:nvSpPr>
        <p:spPr>
          <a:xfrm rot="0">
            <a:off x="1458814" y="2100709"/>
            <a:ext cx="4102894" cy="887016"/>
          </a:xfrm>
          <a:prstGeom prst="rect">
            <a:avLst/>
          </a:prstGeom>
        </p:spPr>
        <p:txBody>
          <a:bodyPr anchor="t" rtlCol="false" tIns="0" lIns="0" bIns="0" rIns="0">
            <a:spAutoFit/>
          </a:bodyPr>
          <a:lstStyle/>
          <a:p>
            <a:pPr algn="l">
              <a:lnSpc>
                <a:spcPts val="2125"/>
              </a:lnSpc>
            </a:pPr>
            <a:r>
              <a:rPr lang="en-US" sz="1312">
                <a:solidFill>
                  <a:srgbClr val="404155"/>
                </a:solidFill>
                <a:latin typeface="Arimo"/>
                <a:ea typeface="Arimo"/>
                <a:cs typeface="Arimo"/>
                <a:sym typeface="Arimo"/>
              </a:rPr>
              <a:t>An 11-series configuration of the previously created parallel assemblies was implemented to form a complete battery module.</a:t>
            </a:r>
          </a:p>
        </p:txBody>
      </p:sp>
      <p:grpSp>
        <p:nvGrpSpPr>
          <p:cNvPr name="Group 13" id="13"/>
          <p:cNvGrpSpPr/>
          <p:nvPr/>
        </p:nvGrpSpPr>
        <p:grpSpPr>
          <a:xfrm rot="0">
            <a:off x="905024" y="3320802"/>
            <a:ext cx="389633" cy="389632"/>
            <a:chOff x="0" y="0"/>
            <a:chExt cx="519510" cy="519510"/>
          </a:xfrm>
        </p:grpSpPr>
        <p:sp>
          <p:nvSpPr>
            <p:cNvPr name="Freeform 14" id="14"/>
            <p:cNvSpPr/>
            <p:nvPr/>
          </p:nvSpPr>
          <p:spPr>
            <a:xfrm flipH="false" flipV="false" rot="0">
              <a:off x="6350" y="6350"/>
              <a:ext cx="506857" cy="506857"/>
            </a:xfrm>
            <a:custGeom>
              <a:avLst/>
              <a:gdLst/>
              <a:ahLst/>
              <a:cxnLst/>
              <a:rect r="r" b="b" t="t" l="l"/>
              <a:pathLst>
                <a:path h="506857" w="506857">
                  <a:moveTo>
                    <a:pt x="0" y="94615"/>
                  </a:moveTo>
                  <a:cubicBezTo>
                    <a:pt x="0" y="42418"/>
                    <a:pt x="42418" y="0"/>
                    <a:pt x="94615" y="0"/>
                  </a:cubicBezTo>
                  <a:lnTo>
                    <a:pt x="412242" y="0"/>
                  </a:lnTo>
                  <a:cubicBezTo>
                    <a:pt x="464439" y="0"/>
                    <a:pt x="506857" y="42418"/>
                    <a:pt x="506857" y="94615"/>
                  </a:cubicBezTo>
                  <a:lnTo>
                    <a:pt x="506857" y="412242"/>
                  </a:lnTo>
                  <a:cubicBezTo>
                    <a:pt x="506857" y="464439"/>
                    <a:pt x="464439" y="506857"/>
                    <a:pt x="412242" y="506857"/>
                  </a:cubicBezTo>
                  <a:lnTo>
                    <a:pt x="94615" y="506857"/>
                  </a:lnTo>
                  <a:cubicBezTo>
                    <a:pt x="42418" y="506857"/>
                    <a:pt x="0" y="464439"/>
                    <a:pt x="0" y="412242"/>
                  </a:cubicBezTo>
                  <a:close/>
                </a:path>
              </a:pathLst>
            </a:custGeom>
            <a:solidFill>
              <a:srgbClr val="F9F9FF"/>
            </a:solidFill>
          </p:spPr>
        </p:sp>
        <p:sp>
          <p:nvSpPr>
            <p:cNvPr name="Freeform 15" id="15"/>
            <p:cNvSpPr/>
            <p:nvPr/>
          </p:nvSpPr>
          <p:spPr>
            <a:xfrm flipH="false" flipV="false" rot="0">
              <a:off x="0" y="0"/>
              <a:ext cx="519557" cy="519557"/>
            </a:xfrm>
            <a:custGeom>
              <a:avLst/>
              <a:gdLst/>
              <a:ahLst/>
              <a:cxnLst/>
              <a:rect r="r" b="b" t="t" l="l"/>
              <a:pathLst>
                <a:path h="519557" w="519557">
                  <a:moveTo>
                    <a:pt x="0" y="100965"/>
                  </a:moveTo>
                  <a:cubicBezTo>
                    <a:pt x="0" y="45212"/>
                    <a:pt x="45212" y="0"/>
                    <a:pt x="100965" y="0"/>
                  </a:cubicBezTo>
                  <a:lnTo>
                    <a:pt x="418592" y="0"/>
                  </a:lnTo>
                  <a:lnTo>
                    <a:pt x="418592" y="6350"/>
                  </a:lnTo>
                  <a:lnTo>
                    <a:pt x="418592" y="0"/>
                  </a:lnTo>
                  <a:lnTo>
                    <a:pt x="418592" y="6350"/>
                  </a:lnTo>
                  <a:lnTo>
                    <a:pt x="418592" y="0"/>
                  </a:lnTo>
                  <a:cubicBezTo>
                    <a:pt x="474345" y="0"/>
                    <a:pt x="519557" y="45212"/>
                    <a:pt x="519557" y="100965"/>
                  </a:cubicBezTo>
                  <a:lnTo>
                    <a:pt x="519557" y="418592"/>
                  </a:lnTo>
                  <a:lnTo>
                    <a:pt x="513207" y="418592"/>
                  </a:lnTo>
                  <a:lnTo>
                    <a:pt x="519557" y="418592"/>
                  </a:lnTo>
                  <a:cubicBezTo>
                    <a:pt x="519557" y="474345"/>
                    <a:pt x="474345" y="519557"/>
                    <a:pt x="418592" y="519557"/>
                  </a:cubicBezTo>
                  <a:lnTo>
                    <a:pt x="418592" y="513207"/>
                  </a:lnTo>
                  <a:lnTo>
                    <a:pt x="418592" y="519557"/>
                  </a:lnTo>
                  <a:lnTo>
                    <a:pt x="100965" y="519557"/>
                  </a:lnTo>
                  <a:lnTo>
                    <a:pt x="100965" y="513207"/>
                  </a:lnTo>
                  <a:lnTo>
                    <a:pt x="100965" y="519557"/>
                  </a:lnTo>
                  <a:cubicBezTo>
                    <a:pt x="45212" y="519557"/>
                    <a:pt x="0" y="474345"/>
                    <a:pt x="0" y="418592"/>
                  </a:cubicBezTo>
                  <a:lnTo>
                    <a:pt x="0" y="100965"/>
                  </a:lnTo>
                  <a:lnTo>
                    <a:pt x="6350" y="100965"/>
                  </a:lnTo>
                  <a:lnTo>
                    <a:pt x="0" y="100965"/>
                  </a:lnTo>
                  <a:moveTo>
                    <a:pt x="12700" y="100965"/>
                  </a:moveTo>
                  <a:lnTo>
                    <a:pt x="12700" y="418592"/>
                  </a:lnTo>
                  <a:lnTo>
                    <a:pt x="6350" y="418592"/>
                  </a:lnTo>
                  <a:lnTo>
                    <a:pt x="12700" y="418592"/>
                  </a:lnTo>
                  <a:cubicBezTo>
                    <a:pt x="12700" y="467360"/>
                    <a:pt x="52197" y="506857"/>
                    <a:pt x="100965" y="506857"/>
                  </a:cubicBezTo>
                  <a:lnTo>
                    <a:pt x="418592" y="506857"/>
                  </a:lnTo>
                  <a:cubicBezTo>
                    <a:pt x="467360" y="506857"/>
                    <a:pt x="506857" y="467360"/>
                    <a:pt x="506857" y="418592"/>
                  </a:cubicBezTo>
                  <a:lnTo>
                    <a:pt x="506857" y="100965"/>
                  </a:lnTo>
                  <a:lnTo>
                    <a:pt x="513207" y="100965"/>
                  </a:lnTo>
                  <a:lnTo>
                    <a:pt x="506857" y="100965"/>
                  </a:lnTo>
                  <a:cubicBezTo>
                    <a:pt x="506857" y="52197"/>
                    <a:pt x="467233" y="12700"/>
                    <a:pt x="418592" y="12700"/>
                  </a:cubicBezTo>
                  <a:lnTo>
                    <a:pt x="100965" y="12700"/>
                  </a:lnTo>
                  <a:lnTo>
                    <a:pt x="100965" y="6350"/>
                  </a:lnTo>
                  <a:lnTo>
                    <a:pt x="100965" y="12700"/>
                  </a:lnTo>
                  <a:cubicBezTo>
                    <a:pt x="52197" y="12700"/>
                    <a:pt x="12700" y="52197"/>
                    <a:pt x="12700" y="100965"/>
                  </a:cubicBezTo>
                  <a:close/>
                </a:path>
              </a:pathLst>
            </a:custGeom>
            <a:solidFill>
              <a:srgbClr val="DFDFE5"/>
            </a:solidFill>
          </p:spPr>
        </p:sp>
      </p:grpSp>
      <p:sp>
        <p:nvSpPr>
          <p:cNvPr name="TextBox 16" id="16"/>
          <p:cNvSpPr txBox="true"/>
          <p:nvPr/>
        </p:nvSpPr>
        <p:spPr>
          <a:xfrm rot="0">
            <a:off x="973188" y="3395365"/>
            <a:ext cx="253305" cy="278606"/>
          </a:xfrm>
          <a:prstGeom prst="rect">
            <a:avLst/>
          </a:prstGeom>
        </p:spPr>
        <p:txBody>
          <a:bodyPr anchor="t" rtlCol="false" tIns="0" lIns="0" bIns="0" rIns="0">
            <a:spAutoFit/>
          </a:bodyPr>
          <a:lstStyle/>
          <a:p>
            <a:pPr algn="ctr">
              <a:lnSpc>
                <a:spcPts val="1937"/>
              </a:lnSpc>
            </a:pPr>
            <a:r>
              <a:rPr lang="en-US" sz="1937">
                <a:solidFill>
                  <a:srgbClr val="000000"/>
                </a:solidFill>
                <a:latin typeface="Corben"/>
                <a:ea typeface="Corben"/>
                <a:cs typeface="Corben"/>
                <a:sym typeface="Corben"/>
              </a:rPr>
              <a:t>2</a:t>
            </a:r>
          </a:p>
        </p:txBody>
      </p:sp>
      <p:sp>
        <p:nvSpPr>
          <p:cNvPr name="TextBox 17" id="17"/>
          <p:cNvSpPr txBox="true"/>
          <p:nvPr/>
        </p:nvSpPr>
        <p:spPr>
          <a:xfrm rot="0">
            <a:off x="1458814" y="3374082"/>
            <a:ext cx="2112020" cy="273398"/>
          </a:xfrm>
          <a:prstGeom prst="rect">
            <a:avLst/>
          </a:prstGeom>
        </p:spPr>
        <p:txBody>
          <a:bodyPr anchor="t" rtlCol="false" tIns="0" lIns="0" bIns="0" rIns="0">
            <a:spAutoFit/>
          </a:bodyPr>
          <a:lstStyle/>
          <a:p>
            <a:pPr algn="l">
              <a:lnSpc>
                <a:spcPts val="2062"/>
              </a:lnSpc>
            </a:pPr>
            <a:r>
              <a:rPr lang="en-US" sz="1625">
                <a:solidFill>
                  <a:srgbClr val="404155"/>
                </a:solidFill>
                <a:latin typeface="Corben"/>
                <a:ea typeface="Corben"/>
                <a:cs typeface="Corben"/>
                <a:sym typeface="Corben"/>
              </a:rPr>
              <a:t>Inter-Assembly Gap</a:t>
            </a:r>
          </a:p>
        </p:txBody>
      </p:sp>
      <p:sp>
        <p:nvSpPr>
          <p:cNvPr name="TextBox 18" id="18"/>
          <p:cNvSpPr txBox="true"/>
          <p:nvPr/>
        </p:nvSpPr>
        <p:spPr>
          <a:xfrm rot="0">
            <a:off x="1458814" y="3740200"/>
            <a:ext cx="4102894" cy="887016"/>
          </a:xfrm>
          <a:prstGeom prst="rect">
            <a:avLst/>
          </a:prstGeom>
        </p:spPr>
        <p:txBody>
          <a:bodyPr anchor="t" rtlCol="false" tIns="0" lIns="0" bIns="0" rIns="0">
            <a:spAutoFit/>
          </a:bodyPr>
          <a:lstStyle/>
          <a:p>
            <a:pPr algn="l">
              <a:lnSpc>
                <a:spcPts val="2125"/>
              </a:lnSpc>
            </a:pPr>
            <a:r>
              <a:rPr lang="en-US" sz="1312">
                <a:solidFill>
                  <a:srgbClr val="404155"/>
                </a:solidFill>
                <a:latin typeface="Arimo"/>
                <a:ea typeface="Arimo"/>
                <a:cs typeface="Arimo"/>
                <a:sym typeface="Arimo"/>
              </a:rPr>
              <a:t>A precise inter-parallel assembly gap of 0.005 meters was introduced to facilitate thermal management and structural stability.</a:t>
            </a:r>
          </a:p>
        </p:txBody>
      </p:sp>
      <p:grpSp>
        <p:nvGrpSpPr>
          <p:cNvPr name="Group 19" id="19"/>
          <p:cNvGrpSpPr/>
          <p:nvPr/>
        </p:nvGrpSpPr>
        <p:grpSpPr>
          <a:xfrm rot="0">
            <a:off x="905024" y="4960292"/>
            <a:ext cx="389633" cy="389633"/>
            <a:chOff x="0" y="0"/>
            <a:chExt cx="519510" cy="519510"/>
          </a:xfrm>
        </p:grpSpPr>
        <p:sp>
          <p:nvSpPr>
            <p:cNvPr name="Freeform 20" id="20"/>
            <p:cNvSpPr/>
            <p:nvPr/>
          </p:nvSpPr>
          <p:spPr>
            <a:xfrm flipH="false" flipV="false" rot="0">
              <a:off x="6350" y="6350"/>
              <a:ext cx="506857" cy="506857"/>
            </a:xfrm>
            <a:custGeom>
              <a:avLst/>
              <a:gdLst/>
              <a:ahLst/>
              <a:cxnLst/>
              <a:rect r="r" b="b" t="t" l="l"/>
              <a:pathLst>
                <a:path h="506857" w="506857">
                  <a:moveTo>
                    <a:pt x="0" y="94615"/>
                  </a:moveTo>
                  <a:cubicBezTo>
                    <a:pt x="0" y="42418"/>
                    <a:pt x="42418" y="0"/>
                    <a:pt x="94615" y="0"/>
                  </a:cubicBezTo>
                  <a:lnTo>
                    <a:pt x="412242" y="0"/>
                  </a:lnTo>
                  <a:cubicBezTo>
                    <a:pt x="464439" y="0"/>
                    <a:pt x="506857" y="42418"/>
                    <a:pt x="506857" y="94615"/>
                  </a:cubicBezTo>
                  <a:lnTo>
                    <a:pt x="506857" y="412242"/>
                  </a:lnTo>
                  <a:cubicBezTo>
                    <a:pt x="506857" y="464439"/>
                    <a:pt x="464439" y="506857"/>
                    <a:pt x="412242" y="506857"/>
                  </a:cubicBezTo>
                  <a:lnTo>
                    <a:pt x="94615" y="506857"/>
                  </a:lnTo>
                  <a:cubicBezTo>
                    <a:pt x="42418" y="506857"/>
                    <a:pt x="0" y="464439"/>
                    <a:pt x="0" y="412242"/>
                  </a:cubicBezTo>
                  <a:close/>
                </a:path>
              </a:pathLst>
            </a:custGeom>
            <a:solidFill>
              <a:srgbClr val="F9F9FF"/>
            </a:solidFill>
          </p:spPr>
        </p:sp>
        <p:sp>
          <p:nvSpPr>
            <p:cNvPr name="Freeform 21" id="21"/>
            <p:cNvSpPr/>
            <p:nvPr/>
          </p:nvSpPr>
          <p:spPr>
            <a:xfrm flipH="false" flipV="false" rot="0">
              <a:off x="0" y="0"/>
              <a:ext cx="519557" cy="519557"/>
            </a:xfrm>
            <a:custGeom>
              <a:avLst/>
              <a:gdLst/>
              <a:ahLst/>
              <a:cxnLst/>
              <a:rect r="r" b="b" t="t" l="l"/>
              <a:pathLst>
                <a:path h="519557" w="519557">
                  <a:moveTo>
                    <a:pt x="0" y="100965"/>
                  </a:moveTo>
                  <a:cubicBezTo>
                    <a:pt x="0" y="45212"/>
                    <a:pt x="45212" y="0"/>
                    <a:pt x="100965" y="0"/>
                  </a:cubicBezTo>
                  <a:lnTo>
                    <a:pt x="418592" y="0"/>
                  </a:lnTo>
                  <a:lnTo>
                    <a:pt x="418592" y="6350"/>
                  </a:lnTo>
                  <a:lnTo>
                    <a:pt x="418592" y="0"/>
                  </a:lnTo>
                  <a:lnTo>
                    <a:pt x="418592" y="6350"/>
                  </a:lnTo>
                  <a:lnTo>
                    <a:pt x="418592" y="0"/>
                  </a:lnTo>
                  <a:cubicBezTo>
                    <a:pt x="474345" y="0"/>
                    <a:pt x="519557" y="45212"/>
                    <a:pt x="519557" y="100965"/>
                  </a:cubicBezTo>
                  <a:lnTo>
                    <a:pt x="519557" y="418592"/>
                  </a:lnTo>
                  <a:lnTo>
                    <a:pt x="513207" y="418592"/>
                  </a:lnTo>
                  <a:lnTo>
                    <a:pt x="519557" y="418592"/>
                  </a:lnTo>
                  <a:cubicBezTo>
                    <a:pt x="519557" y="474345"/>
                    <a:pt x="474345" y="519557"/>
                    <a:pt x="418592" y="519557"/>
                  </a:cubicBezTo>
                  <a:lnTo>
                    <a:pt x="418592" y="513207"/>
                  </a:lnTo>
                  <a:lnTo>
                    <a:pt x="418592" y="519557"/>
                  </a:lnTo>
                  <a:lnTo>
                    <a:pt x="100965" y="519557"/>
                  </a:lnTo>
                  <a:lnTo>
                    <a:pt x="100965" y="513207"/>
                  </a:lnTo>
                  <a:lnTo>
                    <a:pt x="100965" y="519557"/>
                  </a:lnTo>
                  <a:cubicBezTo>
                    <a:pt x="45212" y="519557"/>
                    <a:pt x="0" y="474345"/>
                    <a:pt x="0" y="418592"/>
                  </a:cubicBezTo>
                  <a:lnTo>
                    <a:pt x="0" y="100965"/>
                  </a:lnTo>
                  <a:lnTo>
                    <a:pt x="6350" y="100965"/>
                  </a:lnTo>
                  <a:lnTo>
                    <a:pt x="0" y="100965"/>
                  </a:lnTo>
                  <a:moveTo>
                    <a:pt x="12700" y="100965"/>
                  </a:moveTo>
                  <a:lnTo>
                    <a:pt x="12700" y="418592"/>
                  </a:lnTo>
                  <a:lnTo>
                    <a:pt x="6350" y="418592"/>
                  </a:lnTo>
                  <a:lnTo>
                    <a:pt x="12700" y="418592"/>
                  </a:lnTo>
                  <a:cubicBezTo>
                    <a:pt x="12700" y="467360"/>
                    <a:pt x="52197" y="506857"/>
                    <a:pt x="100965" y="506857"/>
                  </a:cubicBezTo>
                  <a:lnTo>
                    <a:pt x="418592" y="506857"/>
                  </a:lnTo>
                  <a:cubicBezTo>
                    <a:pt x="467360" y="506857"/>
                    <a:pt x="506857" y="467360"/>
                    <a:pt x="506857" y="418592"/>
                  </a:cubicBezTo>
                  <a:lnTo>
                    <a:pt x="506857" y="100965"/>
                  </a:lnTo>
                  <a:lnTo>
                    <a:pt x="513207" y="100965"/>
                  </a:lnTo>
                  <a:lnTo>
                    <a:pt x="506857" y="100965"/>
                  </a:lnTo>
                  <a:cubicBezTo>
                    <a:pt x="506857" y="52197"/>
                    <a:pt x="467233" y="12700"/>
                    <a:pt x="418592" y="12700"/>
                  </a:cubicBezTo>
                  <a:lnTo>
                    <a:pt x="100965" y="12700"/>
                  </a:lnTo>
                  <a:lnTo>
                    <a:pt x="100965" y="6350"/>
                  </a:lnTo>
                  <a:lnTo>
                    <a:pt x="100965" y="12700"/>
                  </a:lnTo>
                  <a:cubicBezTo>
                    <a:pt x="52197" y="12700"/>
                    <a:pt x="12700" y="52197"/>
                    <a:pt x="12700" y="100965"/>
                  </a:cubicBezTo>
                  <a:close/>
                </a:path>
              </a:pathLst>
            </a:custGeom>
            <a:solidFill>
              <a:srgbClr val="DFDFE5"/>
            </a:solidFill>
          </p:spPr>
        </p:sp>
      </p:grpSp>
      <p:sp>
        <p:nvSpPr>
          <p:cNvPr name="TextBox 22" id="22"/>
          <p:cNvSpPr txBox="true"/>
          <p:nvPr/>
        </p:nvSpPr>
        <p:spPr>
          <a:xfrm rot="0">
            <a:off x="973188" y="5034855"/>
            <a:ext cx="253305" cy="278606"/>
          </a:xfrm>
          <a:prstGeom prst="rect">
            <a:avLst/>
          </a:prstGeom>
        </p:spPr>
        <p:txBody>
          <a:bodyPr anchor="t" rtlCol="false" tIns="0" lIns="0" bIns="0" rIns="0">
            <a:spAutoFit/>
          </a:bodyPr>
          <a:lstStyle/>
          <a:p>
            <a:pPr algn="ctr">
              <a:lnSpc>
                <a:spcPts val="1937"/>
              </a:lnSpc>
            </a:pPr>
            <a:r>
              <a:rPr lang="en-US" sz="1937">
                <a:solidFill>
                  <a:srgbClr val="000000"/>
                </a:solidFill>
                <a:latin typeface="Corben"/>
                <a:ea typeface="Corben"/>
                <a:cs typeface="Corben"/>
                <a:sym typeface="Corben"/>
              </a:rPr>
              <a:t>3</a:t>
            </a:r>
          </a:p>
        </p:txBody>
      </p:sp>
      <p:sp>
        <p:nvSpPr>
          <p:cNvPr name="TextBox 23" id="23"/>
          <p:cNvSpPr txBox="true"/>
          <p:nvPr/>
        </p:nvSpPr>
        <p:spPr>
          <a:xfrm rot="0">
            <a:off x="1458814" y="5013572"/>
            <a:ext cx="2335709" cy="273398"/>
          </a:xfrm>
          <a:prstGeom prst="rect">
            <a:avLst/>
          </a:prstGeom>
        </p:spPr>
        <p:txBody>
          <a:bodyPr anchor="t" rtlCol="false" tIns="0" lIns="0" bIns="0" rIns="0">
            <a:spAutoFit/>
          </a:bodyPr>
          <a:lstStyle/>
          <a:p>
            <a:pPr algn="l">
              <a:lnSpc>
                <a:spcPts val="2062"/>
              </a:lnSpc>
            </a:pPr>
            <a:r>
              <a:rPr lang="en-US" sz="1625">
                <a:solidFill>
                  <a:srgbClr val="404155"/>
                </a:solidFill>
                <a:latin typeface="Corben"/>
                <a:ea typeface="Corben"/>
                <a:cs typeface="Corben"/>
                <a:sym typeface="Corben"/>
              </a:rPr>
              <a:t>Structure Confirmation</a:t>
            </a:r>
          </a:p>
        </p:txBody>
      </p:sp>
      <p:sp>
        <p:nvSpPr>
          <p:cNvPr name="TextBox 24" id="24"/>
          <p:cNvSpPr txBox="true"/>
          <p:nvPr/>
        </p:nvSpPr>
        <p:spPr>
          <a:xfrm rot="0">
            <a:off x="1458814" y="5379690"/>
            <a:ext cx="4102894" cy="887016"/>
          </a:xfrm>
          <a:prstGeom prst="rect">
            <a:avLst/>
          </a:prstGeom>
        </p:spPr>
        <p:txBody>
          <a:bodyPr anchor="t" rtlCol="false" tIns="0" lIns="0" bIns="0" rIns="0">
            <a:spAutoFit/>
          </a:bodyPr>
          <a:lstStyle/>
          <a:p>
            <a:pPr algn="l">
              <a:lnSpc>
                <a:spcPts val="2125"/>
              </a:lnSpc>
            </a:pPr>
            <a:r>
              <a:rPr lang="en-US" sz="1312">
                <a:solidFill>
                  <a:srgbClr val="404155"/>
                </a:solidFill>
                <a:latin typeface="Arimo"/>
                <a:ea typeface="Arimo"/>
                <a:cs typeface="Arimo"/>
                <a:sym typeface="Arimo"/>
              </a:rPr>
              <a:t>The 'batteryChart' function was used to visually verify the accurate arrangement and spacing within the constructed module.</a:t>
            </a:r>
          </a:p>
        </p:txBody>
      </p:sp>
      <p:grpSp>
        <p:nvGrpSpPr>
          <p:cNvPr name="Group 25" id="25"/>
          <p:cNvGrpSpPr/>
          <p:nvPr/>
        </p:nvGrpSpPr>
        <p:grpSpPr>
          <a:xfrm rot="0">
            <a:off x="9264402" y="1686074"/>
            <a:ext cx="4842123" cy="3467992"/>
            <a:chOff x="0" y="0"/>
            <a:chExt cx="6456163" cy="4623990"/>
          </a:xfrm>
        </p:grpSpPr>
        <p:sp>
          <p:nvSpPr>
            <p:cNvPr name="Freeform 26" id="26" descr="preencoded.png"/>
            <p:cNvSpPr/>
            <p:nvPr/>
          </p:nvSpPr>
          <p:spPr>
            <a:xfrm flipH="false" flipV="false" rot="0">
              <a:off x="0" y="0"/>
              <a:ext cx="6456172" cy="4623943"/>
            </a:xfrm>
            <a:custGeom>
              <a:avLst/>
              <a:gdLst/>
              <a:ahLst/>
              <a:cxnLst/>
              <a:rect r="r" b="b" t="t" l="l"/>
              <a:pathLst>
                <a:path h="4623943" w="6456172">
                  <a:moveTo>
                    <a:pt x="0" y="0"/>
                  </a:moveTo>
                  <a:lnTo>
                    <a:pt x="6456172" y="0"/>
                  </a:lnTo>
                  <a:lnTo>
                    <a:pt x="6456172" y="4623943"/>
                  </a:lnTo>
                  <a:lnTo>
                    <a:pt x="0" y="4623943"/>
                  </a:lnTo>
                  <a:lnTo>
                    <a:pt x="0" y="0"/>
                  </a:lnTo>
                  <a:close/>
                </a:path>
              </a:pathLst>
            </a:custGeom>
            <a:blipFill>
              <a:blip r:embed="rId3"/>
              <a:stretch>
                <a:fillRect l="0" t="-22" r="0" b="-23"/>
              </a:stretch>
            </a:blipFill>
          </p:spPr>
        </p:sp>
      </p:grpSp>
      <p:sp>
        <p:nvSpPr>
          <p:cNvPr name="TextBox 27" id="27"/>
          <p:cNvSpPr txBox="true"/>
          <p:nvPr/>
        </p:nvSpPr>
        <p:spPr>
          <a:xfrm rot="0">
            <a:off x="5983486" y="5267920"/>
            <a:ext cx="11404104" cy="346472"/>
          </a:xfrm>
          <a:prstGeom prst="rect">
            <a:avLst/>
          </a:prstGeom>
        </p:spPr>
        <p:txBody>
          <a:bodyPr anchor="t" rtlCol="false" tIns="0" lIns="0" bIns="0" rIns="0">
            <a:spAutoFit/>
          </a:bodyPr>
          <a:lstStyle/>
          <a:p>
            <a:pPr algn="l">
              <a:lnSpc>
                <a:spcPts val="2125"/>
              </a:lnSpc>
            </a:pPr>
            <a:r>
              <a:rPr lang="en-US" sz="1312" b="true">
                <a:solidFill>
                  <a:srgbClr val="000000"/>
                </a:solidFill>
                <a:latin typeface="Arimo Bold"/>
                <a:ea typeface="Arimo Bold"/>
                <a:cs typeface="Arimo Bold"/>
                <a:sym typeface="Arimo Bold"/>
              </a:rPr>
              <a:t>                                fig.3 Battery Module</a:t>
            </a:r>
          </a:p>
        </p:txBody>
      </p:sp>
      <p:grpSp>
        <p:nvGrpSpPr>
          <p:cNvPr name="Group 28" id="28"/>
          <p:cNvGrpSpPr/>
          <p:nvPr/>
        </p:nvGrpSpPr>
        <p:grpSpPr>
          <a:xfrm rot="0">
            <a:off x="9383465" y="5804446"/>
            <a:ext cx="4604147" cy="3155454"/>
            <a:chOff x="0" y="0"/>
            <a:chExt cx="6138863" cy="4207272"/>
          </a:xfrm>
        </p:grpSpPr>
        <p:sp>
          <p:nvSpPr>
            <p:cNvPr name="Freeform 29" id="29" descr="preencoded.png"/>
            <p:cNvSpPr/>
            <p:nvPr/>
          </p:nvSpPr>
          <p:spPr>
            <a:xfrm flipH="false" flipV="false" rot="0">
              <a:off x="0" y="0"/>
              <a:ext cx="6138926" cy="4207256"/>
            </a:xfrm>
            <a:custGeom>
              <a:avLst/>
              <a:gdLst/>
              <a:ahLst/>
              <a:cxnLst/>
              <a:rect r="r" b="b" t="t" l="l"/>
              <a:pathLst>
                <a:path h="4207256" w="6138926">
                  <a:moveTo>
                    <a:pt x="0" y="0"/>
                  </a:moveTo>
                  <a:lnTo>
                    <a:pt x="6138926" y="0"/>
                  </a:lnTo>
                  <a:lnTo>
                    <a:pt x="6138926" y="4207256"/>
                  </a:lnTo>
                  <a:lnTo>
                    <a:pt x="0" y="4207256"/>
                  </a:lnTo>
                  <a:lnTo>
                    <a:pt x="0" y="0"/>
                  </a:lnTo>
                  <a:close/>
                </a:path>
              </a:pathLst>
            </a:custGeom>
            <a:blipFill>
              <a:blip r:embed="rId4"/>
              <a:stretch>
                <a:fillRect l="-3" t="0" r="-2" b="0"/>
              </a:stretch>
            </a:blipFill>
          </p:spPr>
        </p:sp>
      </p:grpSp>
      <p:sp>
        <p:nvSpPr>
          <p:cNvPr name="TextBox 30" id="30"/>
          <p:cNvSpPr txBox="true"/>
          <p:nvPr/>
        </p:nvSpPr>
        <p:spPr>
          <a:xfrm rot="0">
            <a:off x="5983486" y="9073754"/>
            <a:ext cx="11404104" cy="346472"/>
          </a:xfrm>
          <a:prstGeom prst="rect">
            <a:avLst/>
          </a:prstGeom>
        </p:spPr>
        <p:txBody>
          <a:bodyPr anchor="t" rtlCol="false" tIns="0" lIns="0" bIns="0" rIns="0">
            <a:spAutoFit/>
          </a:bodyPr>
          <a:lstStyle/>
          <a:p>
            <a:pPr algn="l">
              <a:lnSpc>
                <a:spcPts val="2125"/>
              </a:lnSpc>
            </a:pPr>
            <a:r>
              <a:rPr lang="en-US" sz="1312" b="true">
                <a:solidFill>
                  <a:srgbClr val="000000"/>
                </a:solidFill>
                <a:latin typeface="Arimo Bold"/>
                <a:ea typeface="Arimo Bold"/>
                <a:cs typeface="Arimo Bold"/>
                <a:sym typeface="Arimo Bold"/>
              </a:rPr>
              <a:t>                              fig.4 Module assembly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9FF">
                <a:alpha val="90196"/>
              </a:srgbClr>
            </a:solidFill>
          </p:spPr>
        </p:sp>
      </p:grpSp>
      <p:sp>
        <p:nvSpPr>
          <p:cNvPr name="TextBox 6" id="6"/>
          <p:cNvSpPr txBox="true"/>
          <p:nvPr/>
        </p:nvSpPr>
        <p:spPr>
          <a:xfrm rot="0">
            <a:off x="992238" y="779115"/>
            <a:ext cx="10534352" cy="825996"/>
          </a:xfrm>
          <a:prstGeom prst="rect">
            <a:avLst/>
          </a:prstGeom>
        </p:spPr>
        <p:txBody>
          <a:bodyPr anchor="t" rtlCol="false" tIns="0" lIns="0" bIns="0" rIns="0">
            <a:spAutoFit/>
          </a:bodyPr>
          <a:lstStyle/>
          <a:p>
            <a:pPr algn="l">
              <a:lnSpc>
                <a:spcPts val="6249"/>
              </a:lnSpc>
            </a:pPr>
            <a:r>
              <a:rPr lang="en-US" sz="4999">
                <a:solidFill>
                  <a:srgbClr val="1B1B27"/>
                </a:solidFill>
                <a:latin typeface="Corben"/>
                <a:ea typeface="Corben"/>
                <a:cs typeface="Corben"/>
                <a:sym typeface="Corben"/>
              </a:rPr>
              <a:t>Module Assembly and Battery Pack</a:t>
            </a:r>
          </a:p>
        </p:txBody>
      </p:sp>
      <p:grpSp>
        <p:nvGrpSpPr>
          <p:cNvPr name="Group 7" id="7"/>
          <p:cNvGrpSpPr/>
          <p:nvPr/>
        </p:nvGrpSpPr>
        <p:grpSpPr>
          <a:xfrm rot="0">
            <a:off x="992238" y="2274689"/>
            <a:ext cx="7840564" cy="5050482"/>
            <a:chOff x="0" y="0"/>
            <a:chExt cx="10454085" cy="6733977"/>
          </a:xfrm>
        </p:grpSpPr>
        <p:sp>
          <p:nvSpPr>
            <p:cNvPr name="Freeform 8" id="8" descr="preencoded.png"/>
            <p:cNvSpPr/>
            <p:nvPr/>
          </p:nvSpPr>
          <p:spPr>
            <a:xfrm flipH="false" flipV="false" rot="0">
              <a:off x="0" y="0"/>
              <a:ext cx="10454132" cy="6733921"/>
            </a:xfrm>
            <a:custGeom>
              <a:avLst/>
              <a:gdLst/>
              <a:ahLst/>
              <a:cxnLst/>
              <a:rect r="r" b="b" t="t" l="l"/>
              <a:pathLst>
                <a:path h="6733921" w="10454132">
                  <a:moveTo>
                    <a:pt x="0" y="0"/>
                  </a:moveTo>
                  <a:lnTo>
                    <a:pt x="10454132" y="0"/>
                  </a:lnTo>
                  <a:lnTo>
                    <a:pt x="10454132" y="6733921"/>
                  </a:lnTo>
                  <a:lnTo>
                    <a:pt x="0" y="6733921"/>
                  </a:lnTo>
                  <a:lnTo>
                    <a:pt x="0" y="0"/>
                  </a:lnTo>
                  <a:close/>
                </a:path>
              </a:pathLst>
            </a:custGeom>
            <a:blipFill>
              <a:blip r:embed="rId3"/>
              <a:stretch>
                <a:fillRect l="-12" t="0" r="-12" b="0"/>
              </a:stretch>
            </a:blipFill>
          </p:spPr>
        </p:sp>
      </p:grpSp>
      <p:sp>
        <p:nvSpPr>
          <p:cNvPr name="TextBox 9" id="9"/>
          <p:cNvSpPr txBox="true"/>
          <p:nvPr/>
        </p:nvSpPr>
        <p:spPr>
          <a:xfrm rot="0">
            <a:off x="992238" y="7535912"/>
            <a:ext cx="7840564" cy="484585"/>
          </a:xfrm>
          <a:prstGeom prst="rect">
            <a:avLst/>
          </a:prstGeom>
        </p:spPr>
        <p:txBody>
          <a:bodyPr anchor="t" rtlCol="false" tIns="0" lIns="0" bIns="0" rIns="0">
            <a:spAutoFit/>
          </a:bodyPr>
          <a:lstStyle/>
          <a:p>
            <a:pPr algn="l">
              <a:lnSpc>
                <a:spcPts val="3187"/>
              </a:lnSpc>
            </a:pPr>
            <a:r>
              <a:rPr lang="en-US" sz="2000" b="true">
                <a:solidFill>
                  <a:srgbClr val="000000"/>
                </a:solidFill>
                <a:latin typeface="Arimo Bold"/>
                <a:ea typeface="Arimo Bold"/>
                <a:cs typeface="Arimo Bold"/>
                <a:sym typeface="Arimo Bold"/>
              </a:rPr>
              <a:t>    fig 5 Battey Pack </a:t>
            </a:r>
          </a:p>
        </p:txBody>
      </p:sp>
      <p:grpSp>
        <p:nvGrpSpPr>
          <p:cNvPr name="Group 10" id="10"/>
          <p:cNvGrpSpPr/>
          <p:nvPr/>
        </p:nvGrpSpPr>
        <p:grpSpPr>
          <a:xfrm rot="0">
            <a:off x="9459963" y="2269926"/>
            <a:ext cx="7850089" cy="2009180"/>
            <a:chOff x="0" y="0"/>
            <a:chExt cx="10466785" cy="2678907"/>
          </a:xfrm>
        </p:grpSpPr>
        <p:sp>
          <p:nvSpPr>
            <p:cNvPr name="Freeform 11" id="11"/>
            <p:cNvSpPr/>
            <p:nvPr/>
          </p:nvSpPr>
          <p:spPr>
            <a:xfrm flipH="false" flipV="false" rot="0">
              <a:off x="6350" y="6350"/>
              <a:ext cx="10454005" cy="2666238"/>
            </a:xfrm>
            <a:custGeom>
              <a:avLst/>
              <a:gdLst/>
              <a:ahLst/>
              <a:cxnLst/>
              <a:rect r="r" b="b" t="t" l="l"/>
              <a:pathLst>
                <a:path h="2666238" w="10454005">
                  <a:moveTo>
                    <a:pt x="0" y="142875"/>
                  </a:moveTo>
                  <a:cubicBezTo>
                    <a:pt x="0" y="64008"/>
                    <a:pt x="64262" y="0"/>
                    <a:pt x="143383" y="0"/>
                  </a:cubicBezTo>
                  <a:lnTo>
                    <a:pt x="10310622" y="0"/>
                  </a:lnTo>
                  <a:cubicBezTo>
                    <a:pt x="10389870" y="0"/>
                    <a:pt x="10454005" y="64008"/>
                    <a:pt x="10454005" y="142875"/>
                  </a:cubicBezTo>
                  <a:lnTo>
                    <a:pt x="10454005" y="2523236"/>
                  </a:lnTo>
                  <a:cubicBezTo>
                    <a:pt x="10454005" y="2602103"/>
                    <a:pt x="10389743" y="2666111"/>
                    <a:pt x="10310622" y="2666111"/>
                  </a:cubicBezTo>
                  <a:lnTo>
                    <a:pt x="143383" y="2666111"/>
                  </a:lnTo>
                  <a:cubicBezTo>
                    <a:pt x="64262" y="2666238"/>
                    <a:pt x="0" y="2602230"/>
                    <a:pt x="0" y="2523236"/>
                  </a:cubicBezTo>
                  <a:close/>
                </a:path>
              </a:pathLst>
            </a:custGeom>
            <a:solidFill>
              <a:srgbClr val="D2D9F9"/>
            </a:solidFill>
          </p:spPr>
        </p:sp>
        <p:sp>
          <p:nvSpPr>
            <p:cNvPr name="Freeform 12" id="12"/>
            <p:cNvSpPr/>
            <p:nvPr/>
          </p:nvSpPr>
          <p:spPr>
            <a:xfrm flipH="false" flipV="false" rot="0">
              <a:off x="0" y="0"/>
              <a:ext cx="10466705" cy="2678938"/>
            </a:xfrm>
            <a:custGeom>
              <a:avLst/>
              <a:gdLst/>
              <a:ahLst/>
              <a:cxnLst/>
              <a:rect r="r" b="b" t="t" l="l"/>
              <a:pathLst>
                <a:path h="2678938" w="10466705">
                  <a:moveTo>
                    <a:pt x="0" y="149225"/>
                  </a:moveTo>
                  <a:cubicBezTo>
                    <a:pt x="0" y="66802"/>
                    <a:pt x="67056" y="0"/>
                    <a:pt x="149733" y="0"/>
                  </a:cubicBezTo>
                  <a:lnTo>
                    <a:pt x="10316972" y="0"/>
                  </a:lnTo>
                  <a:lnTo>
                    <a:pt x="10316972" y="6350"/>
                  </a:lnTo>
                  <a:lnTo>
                    <a:pt x="10316972" y="0"/>
                  </a:lnTo>
                  <a:cubicBezTo>
                    <a:pt x="10399649" y="0"/>
                    <a:pt x="10466705" y="66802"/>
                    <a:pt x="10466705" y="149225"/>
                  </a:cubicBezTo>
                  <a:lnTo>
                    <a:pt x="10460355" y="149225"/>
                  </a:lnTo>
                  <a:lnTo>
                    <a:pt x="10466705" y="149225"/>
                  </a:lnTo>
                  <a:lnTo>
                    <a:pt x="10466705" y="2529586"/>
                  </a:lnTo>
                  <a:lnTo>
                    <a:pt x="10460355" y="2529586"/>
                  </a:lnTo>
                  <a:lnTo>
                    <a:pt x="10466705" y="2529586"/>
                  </a:lnTo>
                  <a:cubicBezTo>
                    <a:pt x="10466705" y="2612009"/>
                    <a:pt x="10399649" y="2678811"/>
                    <a:pt x="10316972" y="2678811"/>
                  </a:cubicBezTo>
                  <a:lnTo>
                    <a:pt x="10316972" y="2672461"/>
                  </a:lnTo>
                  <a:lnTo>
                    <a:pt x="10316972" y="2678811"/>
                  </a:lnTo>
                  <a:lnTo>
                    <a:pt x="149733" y="2678811"/>
                  </a:lnTo>
                  <a:lnTo>
                    <a:pt x="149733" y="2672461"/>
                  </a:lnTo>
                  <a:lnTo>
                    <a:pt x="149733" y="2678811"/>
                  </a:lnTo>
                  <a:cubicBezTo>
                    <a:pt x="67056" y="2678938"/>
                    <a:pt x="0" y="2612136"/>
                    <a:pt x="0" y="2529586"/>
                  </a:cubicBezTo>
                  <a:lnTo>
                    <a:pt x="0" y="149225"/>
                  </a:lnTo>
                  <a:lnTo>
                    <a:pt x="6350" y="149225"/>
                  </a:lnTo>
                  <a:lnTo>
                    <a:pt x="0" y="149225"/>
                  </a:lnTo>
                  <a:moveTo>
                    <a:pt x="12700" y="149225"/>
                  </a:moveTo>
                  <a:lnTo>
                    <a:pt x="12700" y="2529586"/>
                  </a:lnTo>
                  <a:lnTo>
                    <a:pt x="6350" y="2529586"/>
                  </a:lnTo>
                  <a:lnTo>
                    <a:pt x="12700" y="2529586"/>
                  </a:lnTo>
                  <a:cubicBezTo>
                    <a:pt x="12700" y="2605024"/>
                    <a:pt x="74041" y="2666111"/>
                    <a:pt x="149733" y="2666111"/>
                  </a:cubicBezTo>
                  <a:lnTo>
                    <a:pt x="10316972" y="2666111"/>
                  </a:lnTo>
                  <a:cubicBezTo>
                    <a:pt x="10392664" y="2666111"/>
                    <a:pt x="10454005" y="2604897"/>
                    <a:pt x="10454005" y="2529586"/>
                  </a:cubicBezTo>
                  <a:lnTo>
                    <a:pt x="10454005" y="149225"/>
                  </a:lnTo>
                  <a:cubicBezTo>
                    <a:pt x="10454132" y="73914"/>
                    <a:pt x="10392791" y="12700"/>
                    <a:pt x="10316972" y="12700"/>
                  </a:cubicBezTo>
                  <a:lnTo>
                    <a:pt x="149733" y="12700"/>
                  </a:lnTo>
                  <a:lnTo>
                    <a:pt x="149733" y="6350"/>
                  </a:lnTo>
                  <a:lnTo>
                    <a:pt x="149733" y="12700"/>
                  </a:lnTo>
                  <a:cubicBezTo>
                    <a:pt x="74041" y="12700"/>
                    <a:pt x="12700" y="73914"/>
                    <a:pt x="12700" y="149225"/>
                  </a:cubicBezTo>
                  <a:close/>
                </a:path>
              </a:pathLst>
            </a:custGeom>
            <a:solidFill>
              <a:srgbClr val="B8BFDF"/>
            </a:solidFill>
          </p:spPr>
        </p:sp>
      </p:grpSp>
      <p:sp>
        <p:nvSpPr>
          <p:cNvPr name="TextBox 13" id="13"/>
          <p:cNvSpPr txBox="true"/>
          <p:nvPr/>
        </p:nvSpPr>
        <p:spPr>
          <a:xfrm rot="0">
            <a:off x="9729341" y="2520255"/>
            <a:ext cx="3189685" cy="417611"/>
          </a:xfrm>
          <a:prstGeom prst="rect">
            <a:avLst/>
          </a:prstGeom>
        </p:spPr>
        <p:txBody>
          <a:bodyPr anchor="t" rtlCol="false" tIns="0" lIns="0" bIns="0" rIns="0">
            <a:spAutoFit/>
          </a:bodyPr>
          <a:lstStyle/>
          <a:p>
            <a:pPr algn="l">
              <a:lnSpc>
                <a:spcPts val="3124"/>
              </a:lnSpc>
            </a:pPr>
            <a:r>
              <a:rPr lang="en-US" sz="2499">
                <a:solidFill>
                  <a:srgbClr val="404155"/>
                </a:solidFill>
                <a:latin typeface="Corben"/>
                <a:ea typeface="Corben"/>
                <a:cs typeface="Corben"/>
                <a:sym typeface="Corben"/>
              </a:rPr>
              <a:t>Module Repetition</a:t>
            </a:r>
          </a:p>
        </p:txBody>
      </p:sp>
      <p:sp>
        <p:nvSpPr>
          <p:cNvPr name="TextBox 14" id="14"/>
          <p:cNvSpPr txBox="true"/>
          <p:nvPr/>
        </p:nvSpPr>
        <p:spPr>
          <a:xfrm rot="0">
            <a:off x="9729341" y="3116759"/>
            <a:ext cx="7311330" cy="892969"/>
          </a:xfrm>
          <a:prstGeom prst="rect">
            <a:avLst/>
          </a:prstGeom>
        </p:spPr>
        <p:txBody>
          <a:bodyPr anchor="t" rtlCol="false" tIns="0" lIns="0" bIns="0" rIns="0">
            <a:spAutoFit/>
          </a:bodyPr>
          <a:lstStyle/>
          <a:p>
            <a:pPr algn="l">
              <a:lnSpc>
                <a:spcPts val="3187"/>
              </a:lnSpc>
            </a:pPr>
            <a:r>
              <a:rPr lang="en-US" sz="2000">
                <a:solidFill>
                  <a:srgbClr val="404155"/>
                </a:solidFill>
                <a:latin typeface="Arimo"/>
                <a:ea typeface="Arimo"/>
                <a:cs typeface="Arimo"/>
                <a:sym typeface="Arimo"/>
              </a:rPr>
              <a:t>The defined battery module was duplicated twice to create a module assembly, increasing the pack's overall voltage.</a:t>
            </a:r>
          </a:p>
        </p:txBody>
      </p:sp>
      <p:grpSp>
        <p:nvGrpSpPr>
          <p:cNvPr name="Group 15" id="15"/>
          <p:cNvGrpSpPr/>
          <p:nvPr/>
        </p:nvGrpSpPr>
        <p:grpSpPr>
          <a:xfrm rot="0">
            <a:off x="9459963" y="4524672"/>
            <a:ext cx="7850089" cy="2009180"/>
            <a:chOff x="0" y="0"/>
            <a:chExt cx="10466785" cy="2678907"/>
          </a:xfrm>
        </p:grpSpPr>
        <p:sp>
          <p:nvSpPr>
            <p:cNvPr name="Freeform 16" id="16"/>
            <p:cNvSpPr/>
            <p:nvPr/>
          </p:nvSpPr>
          <p:spPr>
            <a:xfrm flipH="false" flipV="false" rot="0">
              <a:off x="6350" y="6350"/>
              <a:ext cx="10454005" cy="2666238"/>
            </a:xfrm>
            <a:custGeom>
              <a:avLst/>
              <a:gdLst/>
              <a:ahLst/>
              <a:cxnLst/>
              <a:rect r="r" b="b" t="t" l="l"/>
              <a:pathLst>
                <a:path h="2666238" w="10454005">
                  <a:moveTo>
                    <a:pt x="0" y="142875"/>
                  </a:moveTo>
                  <a:cubicBezTo>
                    <a:pt x="0" y="64008"/>
                    <a:pt x="64262" y="0"/>
                    <a:pt x="143383" y="0"/>
                  </a:cubicBezTo>
                  <a:lnTo>
                    <a:pt x="10310622" y="0"/>
                  </a:lnTo>
                  <a:cubicBezTo>
                    <a:pt x="10389870" y="0"/>
                    <a:pt x="10454005" y="64008"/>
                    <a:pt x="10454005" y="142875"/>
                  </a:cubicBezTo>
                  <a:lnTo>
                    <a:pt x="10454005" y="2523236"/>
                  </a:lnTo>
                  <a:cubicBezTo>
                    <a:pt x="10454005" y="2602103"/>
                    <a:pt x="10389743" y="2666111"/>
                    <a:pt x="10310622" y="2666111"/>
                  </a:cubicBezTo>
                  <a:lnTo>
                    <a:pt x="143383" y="2666111"/>
                  </a:lnTo>
                  <a:cubicBezTo>
                    <a:pt x="64262" y="2666238"/>
                    <a:pt x="0" y="2602230"/>
                    <a:pt x="0" y="2523236"/>
                  </a:cubicBezTo>
                  <a:close/>
                </a:path>
              </a:pathLst>
            </a:custGeom>
            <a:solidFill>
              <a:srgbClr val="D2D9F9"/>
            </a:solidFill>
          </p:spPr>
        </p:sp>
        <p:sp>
          <p:nvSpPr>
            <p:cNvPr name="Freeform 17" id="17"/>
            <p:cNvSpPr/>
            <p:nvPr/>
          </p:nvSpPr>
          <p:spPr>
            <a:xfrm flipH="false" flipV="false" rot="0">
              <a:off x="0" y="0"/>
              <a:ext cx="10466705" cy="2678938"/>
            </a:xfrm>
            <a:custGeom>
              <a:avLst/>
              <a:gdLst/>
              <a:ahLst/>
              <a:cxnLst/>
              <a:rect r="r" b="b" t="t" l="l"/>
              <a:pathLst>
                <a:path h="2678938" w="10466705">
                  <a:moveTo>
                    <a:pt x="0" y="149225"/>
                  </a:moveTo>
                  <a:cubicBezTo>
                    <a:pt x="0" y="66802"/>
                    <a:pt x="67056" y="0"/>
                    <a:pt x="149733" y="0"/>
                  </a:cubicBezTo>
                  <a:lnTo>
                    <a:pt x="10316972" y="0"/>
                  </a:lnTo>
                  <a:lnTo>
                    <a:pt x="10316972" y="6350"/>
                  </a:lnTo>
                  <a:lnTo>
                    <a:pt x="10316972" y="0"/>
                  </a:lnTo>
                  <a:cubicBezTo>
                    <a:pt x="10399649" y="0"/>
                    <a:pt x="10466705" y="66802"/>
                    <a:pt x="10466705" y="149225"/>
                  </a:cubicBezTo>
                  <a:lnTo>
                    <a:pt x="10460355" y="149225"/>
                  </a:lnTo>
                  <a:lnTo>
                    <a:pt x="10466705" y="149225"/>
                  </a:lnTo>
                  <a:lnTo>
                    <a:pt x="10466705" y="2529586"/>
                  </a:lnTo>
                  <a:lnTo>
                    <a:pt x="10460355" y="2529586"/>
                  </a:lnTo>
                  <a:lnTo>
                    <a:pt x="10466705" y="2529586"/>
                  </a:lnTo>
                  <a:cubicBezTo>
                    <a:pt x="10466705" y="2612009"/>
                    <a:pt x="10399649" y="2678811"/>
                    <a:pt x="10316972" y="2678811"/>
                  </a:cubicBezTo>
                  <a:lnTo>
                    <a:pt x="10316972" y="2672461"/>
                  </a:lnTo>
                  <a:lnTo>
                    <a:pt x="10316972" y="2678811"/>
                  </a:lnTo>
                  <a:lnTo>
                    <a:pt x="149733" y="2678811"/>
                  </a:lnTo>
                  <a:lnTo>
                    <a:pt x="149733" y="2672461"/>
                  </a:lnTo>
                  <a:lnTo>
                    <a:pt x="149733" y="2678811"/>
                  </a:lnTo>
                  <a:cubicBezTo>
                    <a:pt x="67056" y="2678938"/>
                    <a:pt x="0" y="2612136"/>
                    <a:pt x="0" y="2529586"/>
                  </a:cubicBezTo>
                  <a:lnTo>
                    <a:pt x="0" y="149225"/>
                  </a:lnTo>
                  <a:lnTo>
                    <a:pt x="6350" y="149225"/>
                  </a:lnTo>
                  <a:lnTo>
                    <a:pt x="0" y="149225"/>
                  </a:lnTo>
                  <a:moveTo>
                    <a:pt x="12700" y="149225"/>
                  </a:moveTo>
                  <a:lnTo>
                    <a:pt x="12700" y="2529586"/>
                  </a:lnTo>
                  <a:lnTo>
                    <a:pt x="6350" y="2529586"/>
                  </a:lnTo>
                  <a:lnTo>
                    <a:pt x="12700" y="2529586"/>
                  </a:lnTo>
                  <a:cubicBezTo>
                    <a:pt x="12700" y="2605024"/>
                    <a:pt x="74041" y="2666111"/>
                    <a:pt x="149733" y="2666111"/>
                  </a:cubicBezTo>
                  <a:lnTo>
                    <a:pt x="10316972" y="2666111"/>
                  </a:lnTo>
                  <a:cubicBezTo>
                    <a:pt x="10392664" y="2666111"/>
                    <a:pt x="10454005" y="2604897"/>
                    <a:pt x="10454005" y="2529586"/>
                  </a:cubicBezTo>
                  <a:lnTo>
                    <a:pt x="10454005" y="149225"/>
                  </a:lnTo>
                  <a:cubicBezTo>
                    <a:pt x="10454132" y="73914"/>
                    <a:pt x="10392791" y="12700"/>
                    <a:pt x="10316972" y="12700"/>
                  </a:cubicBezTo>
                  <a:lnTo>
                    <a:pt x="149733" y="12700"/>
                  </a:lnTo>
                  <a:lnTo>
                    <a:pt x="149733" y="6350"/>
                  </a:lnTo>
                  <a:lnTo>
                    <a:pt x="149733" y="12700"/>
                  </a:lnTo>
                  <a:cubicBezTo>
                    <a:pt x="74041" y="12700"/>
                    <a:pt x="12700" y="73914"/>
                    <a:pt x="12700" y="149225"/>
                  </a:cubicBezTo>
                  <a:close/>
                </a:path>
              </a:pathLst>
            </a:custGeom>
            <a:solidFill>
              <a:srgbClr val="B8BFDF"/>
            </a:solidFill>
          </p:spPr>
        </p:sp>
      </p:grpSp>
      <p:sp>
        <p:nvSpPr>
          <p:cNvPr name="TextBox 18" id="18"/>
          <p:cNvSpPr txBox="true"/>
          <p:nvPr/>
        </p:nvSpPr>
        <p:spPr>
          <a:xfrm rot="0">
            <a:off x="9729341" y="4775001"/>
            <a:ext cx="3189685" cy="417611"/>
          </a:xfrm>
          <a:prstGeom prst="rect">
            <a:avLst/>
          </a:prstGeom>
        </p:spPr>
        <p:txBody>
          <a:bodyPr anchor="t" rtlCol="false" tIns="0" lIns="0" bIns="0" rIns="0">
            <a:spAutoFit/>
          </a:bodyPr>
          <a:lstStyle/>
          <a:p>
            <a:pPr algn="l">
              <a:lnSpc>
                <a:spcPts val="3124"/>
              </a:lnSpc>
            </a:pPr>
            <a:r>
              <a:rPr lang="en-US" sz="2499">
                <a:solidFill>
                  <a:srgbClr val="404155"/>
                </a:solidFill>
                <a:latin typeface="Corben"/>
                <a:ea typeface="Corben"/>
                <a:cs typeface="Corben"/>
                <a:sym typeface="Corben"/>
              </a:rPr>
              <a:t>Pack Formation</a:t>
            </a:r>
          </a:p>
        </p:txBody>
      </p:sp>
      <p:sp>
        <p:nvSpPr>
          <p:cNvPr name="TextBox 19" id="19"/>
          <p:cNvSpPr txBox="true"/>
          <p:nvPr/>
        </p:nvSpPr>
        <p:spPr>
          <a:xfrm rot="0">
            <a:off x="9729341" y="5371505"/>
            <a:ext cx="7311330" cy="892969"/>
          </a:xfrm>
          <a:prstGeom prst="rect">
            <a:avLst/>
          </a:prstGeom>
        </p:spPr>
        <p:txBody>
          <a:bodyPr anchor="t" rtlCol="false" tIns="0" lIns="0" bIns="0" rIns="0">
            <a:spAutoFit/>
          </a:bodyPr>
          <a:lstStyle/>
          <a:p>
            <a:pPr algn="l">
              <a:lnSpc>
                <a:spcPts val="3187"/>
              </a:lnSpc>
            </a:pPr>
            <a:r>
              <a:rPr lang="en-US" sz="2000">
                <a:solidFill>
                  <a:srgbClr val="404155"/>
                </a:solidFill>
                <a:latin typeface="Arimo"/>
                <a:ea typeface="Arimo"/>
                <a:cs typeface="Arimo"/>
                <a:sym typeface="Arimo"/>
              </a:rPr>
              <a:t>Five such module assemblies were integrated to construct the full battery pack, ensuring desired energy capacity.</a:t>
            </a:r>
          </a:p>
        </p:txBody>
      </p:sp>
      <p:grpSp>
        <p:nvGrpSpPr>
          <p:cNvPr name="Group 20" id="20"/>
          <p:cNvGrpSpPr/>
          <p:nvPr/>
        </p:nvGrpSpPr>
        <p:grpSpPr>
          <a:xfrm rot="0">
            <a:off x="9459963" y="6779419"/>
            <a:ext cx="7850089" cy="2417564"/>
            <a:chOff x="0" y="0"/>
            <a:chExt cx="10466785" cy="3223418"/>
          </a:xfrm>
        </p:grpSpPr>
        <p:sp>
          <p:nvSpPr>
            <p:cNvPr name="Freeform 21" id="21"/>
            <p:cNvSpPr/>
            <p:nvPr/>
          </p:nvSpPr>
          <p:spPr>
            <a:xfrm flipH="false" flipV="false" rot="0">
              <a:off x="6350" y="6350"/>
              <a:ext cx="10454005" cy="3210687"/>
            </a:xfrm>
            <a:custGeom>
              <a:avLst/>
              <a:gdLst/>
              <a:ahLst/>
              <a:cxnLst/>
              <a:rect r="r" b="b" t="t" l="l"/>
              <a:pathLst>
                <a:path h="3210687" w="10454005">
                  <a:moveTo>
                    <a:pt x="0" y="142875"/>
                  </a:moveTo>
                  <a:cubicBezTo>
                    <a:pt x="0" y="64008"/>
                    <a:pt x="64135" y="0"/>
                    <a:pt x="143256" y="0"/>
                  </a:cubicBezTo>
                  <a:lnTo>
                    <a:pt x="10310749" y="0"/>
                  </a:lnTo>
                  <a:cubicBezTo>
                    <a:pt x="10389870" y="0"/>
                    <a:pt x="10454005" y="64008"/>
                    <a:pt x="10454005" y="142875"/>
                  </a:cubicBezTo>
                  <a:lnTo>
                    <a:pt x="10454005" y="3067812"/>
                  </a:lnTo>
                  <a:cubicBezTo>
                    <a:pt x="10454005" y="3146679"/>
                    <a:pt x="10389870" y="3210687"/>
                    <a:pt x="10310749" y="3210687"/>
                  </a:cubicBezTo>
                  <a:lnTo>
                    <a:pt x="143256" y="3210687"/>
                  </a:lnTo>
                  <a:cubicBezTo>
                    <a:pt x="64135" y="3210687"/>
                    <a:pt x="0" y="3146679"/>
                    <a:pt x="0" y="3067812"/>
                  </a:cubicBezTo>
                  <a:close/>
                </a:path>
              </a:pathLst>
            </a:custGeom>
            <a:solidFill>
              <a:srgbClr val="D2D9F9"/>
            </a:solidFill>
          </p:spPr>
        </p:sp>
        <p:sp>
          <p:nvSpPr>
            <p:cNvPr name="Freeform 22" id="22"/>
            <p:cNvSpPr/>
            <p:nvPr/>
          </p:nvSpPr>
          <p:spPr>
            <a:xfrm flipH="false" flipV="false" rot="0">
              <a:off x="0" y="0"/>
              <a:ext cx="10466705" cy="3223387"/>
            </a:xfrm>
            <a:custGeom>
              <a:avLst/>
              <a:gdLst/>
              <a:ahLst/>
              <a:cxnLst/>
              <a:rect r="r" b="b" t="t" l="l"/>
              <a:pathLst>
                <a:path h="3223387" w="10466705">
                  <a:moveTo>
                    <a:pt x="0" y="149225"/>
                  </a:moveTo>
                  <a:cubicBezTo>
                    <a:pt x="0" y="66802"/>
                    <a:pt x="67056" y="0"/>
                    <a:pt x="149606" y="0"/>
                  </a:cubicBezTo>
                  <a:lnTo>
                    <a:pt x="10317099" y="0"/>
                  </a:lnTo>
                  <a:lnTo>
                    <a:pt x="10317099" y="6350"/>
                  </a:lnTo>
                  <a:lnTo>
                    <a:pt x="10317099" y="0"/>
                  </a:lnTo>
                  <a:cubicBezTo>
                    <a:pt x="10399776" y="0"/>
                    <a:pt x="10466705" y="66802"/>
                    <a:pt x="10466705" y="149225"/>
                  </a:cubicBezTo>
                  <a:lnTo>
                    <a:pt x="10460355" y="149225"/>
                  </a:lnTo>
                  <a:lnTo>
                    <a:pt x="10466705" y="149225"/>
                  </a:lnTo>
                  <a:lnTo>
                    <a:pt x="10466705" y="3074162"/>
                  </a:lnTo>
                  <a:lnTo>
                    <a:pt x="10460355" y="3074162"/>
                  </a:lnTo>
                  <a:lnTo>
                    <a:pt x="10466705" y="3074162"/>
                  </a:lnTo>
                  <a:cubicBezTo>
                    <a:pt x="10466705" y="3156585"/>
                    <a:pt x="10399649" y="3223387"/>
                    <a:pt x="10317099" y="3223387"/>
                  </a:cubicBezTo>
                  <a:lnTo>
                    <a:pt x="10317099" y="3217037"/>
                  </a:lnTo>
                  <a:lnTo>
                    <a:pt x="10317099" y="3223387"/>
                  </a:lnTo>
                  <a:lnTo>
                    <a:pt x="149606" y="3223387"/>
                  </a:lnTo>
                  <a:lnTo>
                    <a:pt x="149606" y="3217037"/>
                  </a:lnTo>
                  <a:lnTo>
                    <a:pt x="149606" y="3223387"/>
                  </a:lnTo>
                  <a:cubicBezTo>
                    <a:pt x="67056" y="3223387"/>
                    <a:pt x="0" y="3156585"/>
                    <a:pt x="0" y="3074162"/>
                  </a:cubicBezTo>
                  <a:lnTo>
                    <a:pt x="0" y="149225"/>
                  </a:lnTo>
                  <a:lnTo>
                    <a:pt x="6350" y="149225"/>
                  </a:lnTo>
                  <a:lnTo>
                    <a:pt x="0" y="149225"/>
                  </a:lnTo>
                  <a:moveTo>
                    <a:pt x="12700" y="149225"/>
                  </a:moveTo>
                  <a:lnTo>
                    <a:pt x="12700" y="3074162"/>
                  </a:lnTo>
                  <a:lnTo>
                    <a:pt x="6350" y="3074162"/>
                  </a:lnTo>
                  <a:lnTo>
                    <a:pt x="12700" y="3074162"/>
                  </a:lnTo>
                  <a:cubicBezTo>
                    <a:pt x="12700" y="3149600"/>
                    <a:pt x="74041" y="3210687"/>
                    <a:pt x="149606" y="3210687"/>
                  </a:cubicBezTo>
                  <a:lnTo>
                    <a:pt x="10317099" y="3210687"/>
                  </a:lnTo>
                  <a:cubicBezTo>
                    <a:pt x="10392791" y="3210687"/>
                    <a:pt x="10454005" y="3149473"/>
                    <a:pt x="10454005" y="3074162"/>
                  </a:cubicBezTo>
                  <a:lnTo>
                    <a:pt x="10454005" y="149225"/>
                  </a:lnTo>
                  <a:cubicBezTo>
                    <a:pt x="10454132" y="73914"/>
                    <a:pt x="10392791" y="12700"/>
                    <a:pt x="10317099" y="12700"/>
                  </a:cubicBezTo>
                  <a:lnTo>
                    <a:pt x="149606" y="12700"/>
                  </a:lnTo>
                  <a:lnTo>
                    <a:pt x="149606" y="6350"/>
                  </a:lnTo>
                  <a:lnTo>
                    <a:pt x="149606" y="12700"/>
                  </a:lnTo>
                  <a:cubicBezTo>
                    <a:pt x="74041" y="12700"/>
                    <a:pt x="12700" y="73914"/>
                    <a:pt x="12700" y="149225"/>
                  </a:cubicBezTo>
                  <a:close/>
                </a:path>
              </a:pathLst>
            </a:custGeom>
            <a:solidFill>
              <a:srgbClr val="B8BFDF"/>
            </a:solidFill>
          </p:spPr>
        </p:sp>
      </p:grpSp>
      <p:sp>
        <p:nvSpPr>
          <p:cNvPr name="TextBox 23" id="23"/>
          <p:cNvSpPr txBox="true"/>
          <p:nvPr/>
        </p:nvSpPr>
        <p:spPr>
          <a:xfrm rot="0">
            <a:off x="9729341" y="7029747"/>
            <a:ext cx="3189685" cy="417611"/>
          </a:xfrm>
          <a:prstGeom prst="rect">
            <a:avLst/>
          </a:prstGeom>
        </p:spPr>
        <p:txBody>
          <a:bodyPr anchor="t" rtlCol="false" tIns="0" lIns="0" bIns="0" rIns="0">
            <a:spAutoFit/>
          </a:bodyPr>
          <a:lstStyle/>
          <a:p>
            <a:pPr algn="l">
              <a:lnSpc>
                <a:spcPts val="3124"/>
              </a:lnSpc>
            </a:pPr>
            <a:r>
              <a:rPr lang="en-US" sz="2499">
                <a:solidFill>
                  <a:srgbClr val="404155"/>
                </a:solidFill>
                <a:latin typeface="Corben"/>
                <a:ea typeface="Corben"/>
                <a:cs typeface="Corben"/>
                <a:sym typeface="Corben"/>
              </a:rPr>
              <a:t>Structural Spacing</a:t>
            </a:r>
          </a:p>
        </p:txBody>
      </p:sp>
      <p:sp>
        <p:nvSpPr>
          <p:cNvPr name="TextBox 24" id="24"/>
          <p:cNvSpPr txBox="true"/>
          <p:nvPr/>
        </p:nvSpPr>
        <p:spPr>
          <a:xfrm rot="0">
            <a:off x="9729341" y="7626251"/>
            <a:ext cx="7311330" cy="1301354"/>
          </a:xfrm>
          <a:prstGeom prst="rect">
            <a:avLst/>
          </a:prstGeom>
        </p:spPr>
        <p:txBody>
          <a:bodyPr anchor="t" rtlCol="false" tIns="0" lIns="0" bIns="0" rIns="0">
            <a:spAutoFit/>
          </a:bodyPr>
          <a:lstStyle/>
          <a:p>
            <a:pPr algn="l">
              <a:lnSpc>
                <a:spcPts val="3187"/>
              </a:lnSpc>
            </a:pPr>
            <a:r>
              <a:rPr lang="en-US" sz="2000">
                <a:solidFill>
                  <a:srgbClr val="404155"/>
                </a:solidFill>
                <a:latin typeface="Arimo"/>
                <a:ea typeface="Arimo"/>
                <a:cs typeface="Arimo"/>
                <a:sym typeface="Arimo"/>
              </a:rPr>
              <a:t>Appropriate spacing was incorporated between assemblies and modules to optimize thermal management and mechanical integrity.</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9FF">
                <a:alpha val="90196"/>
              </a:srgbClr>
            </a:solidFill>
          </p:spPr>
        </p:sp>
      </p:grpSp>
      <p:sp>
        <p:nvSpPr>
          <p:cNvPr name="TextBox 6" id="6"/>
          <p:cNvSpPr txBox="true"/>
          <p:nvPr/>
        </p:nvSpPr>
        <p:spPr>
          <a:xfrm rot="0">
            <a:off x="992238" y="920800"/>
            <a:ext cx="7892057" cy="683568"/>
          </a:xfrm>
          <a:prstGeom prst="rect">
            <a:avLst/>
          </a:prstGeom>
        </p:spPr>
        <p:txBody>
          <a:bodyPr anchor="t" rtlCol="false" tIns="0" lIns="0" bIns="0" rIns="0">
            <a:spAutoFit/>
          </a:bodyPr>
          <a:lstStyle/>
          <a:p>
            <a:pPr algn="l">
              <a:lnSpc>
                <a:spcPts val="5187"/>
              </a:lnSpc>
            </a:pPr>
            <a:r>
              <a:rPr lang="en-US" sz="4124">
                <a:solidFill>
                  <a:srgbClr val="1B1B27"/>
                </a:solidFill>
                <a:latin typeface="Corben"/>
                <a:ea typeface="Corben"/>
                <a:cs typeface="Corben"/>
                <a:sym typeface="Corben"/>
              </a:rPr>
              <a:t>Simple Heat Generation Module</a:t>
            </a:r>
          </a:p>
        </p:txBody>
      </p:sp>
      <p:grpSp>
        <p:nvGrpSpPr>
          <p:cNvPr name="Group 7" id="7"/>
          <p:cNvGrpSpPr/>
          <p:nvPr/>
        </p:nvGrpSpPr>
        <p:grpSpPr>
          <a:xfrm rot="0">
            <a:off x="992238" y="2029569"/>
            <a:ext cx="13489930" cy="6738194"/>
            <a:chOff x="0" y="0"/>
            <a:chExt cx="17986573" cy="8984258"/>
          </a:xfrm>
        </p:grpSpPr>
        <p:sp>
          <p:nvSpPr>
            <p:cNvPr name="Freeform 8" id="8" descr="preencoded.png"/>
            <p:cNvSpPr/>
            <p:nvPr/>
          </p:nvSpPr>
          <p:spPr>
            <a:xfrm flipH="false" flipV="false" rot="0">
              <a:off x="0" y="0"/>
              <a:ext cx="17986629" cy="8984234"/>
            </a:xfrm>
            <a:custGeom>
              <a:avLst/>
              <a:gdLst/>
              <a:ahLst/>
              <a:cxnLst/>
              <a:rect r="r" b="b" t="t" l="l"/>
              <a:pathLst>
                <a:path h="8984234" w="17986629">
                  <a:moveTo>
                    <a:pt x="0" y="0"/>
                  </a:moveTo>
                  <a:lnTo>
                    <a:pt x="17986629" y="0"/>
                  </a:lnTo>
                  <a:lnTo>
                    <a:pt x="17986629" y="8984234"/>
                  </a:lnTo>
                  <a:lnTo>
                    <a:pt x="0" y="8984234"/>
                  </a:lnTo>
                  <a:lnTo>
                    <a:pt x="0" y="0"/>
                  </a:lnTo>
                  <a:close/>
                </a:path>
              </a:pathLst>
            </a:custGeom>
            <a:blipFill>
              <a:blip r:embed="rId3"/>
              <a:stretch>
                <a:fillRect l="-20" t="0" r="-20" b="0"/>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9FF">
                <a:alpha val="90196"/>
              </a:srgbClr>
            </a:solidFill>
          </p:spPr>
        </p:sp>
      </p:grpSp>
      <p:sp>
        <p:nvSpPr>
          <p:cNvPr name="TextBox 6" id="6"/>
          <p:cNvSpPr txBox="true"/>
          <p:nvPr/>
        </p:nvSpPr>
        <p:spPr>
          <a:xfrm rot="0">
            <a:off x="992238" y="791766"/>
            <a:ext cx="5316141" cy="683567"/>
          </a:xfrm>
          <a:prstGeom prst="rect">
            <a:avLst/>
          </a:prstGeom>
        </p:spPr>
        <p:txBody>
          <a:bodyPr anchor="t" rtlCol="false" tIns="0" lIns="0" bIns="0" rIns="0">
            <a:spAutoFit/>
          </a:bodyPr>
          <a:lstStyle/>
          <a:p>
            <a:pPr algn="l">
              <a:lnSpc>
                <a:spcPts val="5187"/>
              </a:lnSpc>
            </a:pPr>
            <a:r>
              <a:rPr lang="en-US" sz="4124">
                <a:solidFill>
                  <a:srgbClr val="1B1B27"/>
                </a:solidFill>
                <a:latin typeface="Corben"/>
                <a:ea typeface="Corben"/>
                <a:cs typeface="Corben"/>
                <a:sym typeface="Corben"/>
              </a:rPr>
              <a:t>Simulation Results</a:t>
            </a:r>
          </a:p>
        </p:txBody>
      </p:sp>
      <p:grpSp>
        <p:nvGrpSpPr>
          <p:cNvPr name="Group 7" id="7"/>
          <p:cNvGrpSpPr/>
          <p:nvPr/>
        </p:nvGrpSpPr>
        <p:grpSpPr>
          <a:xfrm rot="0">
            <a:off x="992238" y="1900535"/>
            <a:ext cx="9609088" cy="6996261"/>
            <a:chOff x="0" y="0"/>
            <a:chExt cx="12812117" cy="9328348"/>
          </a:xfrm>
        </p:grpSpPr>
        <p:sp>
          <p:nvSpPr>
            <p:cNvPr name="Freeform 8" id="8" descr="preencoded.png"/>
            <p:cNvSpPr/>
            <p:nvPr/>
          </p:nvSpPr>
          <p:spPr>
            <a:xfrm flipH="false" flipV="false" rot="0">
              <a:off x="0" y="0"/>
              <a:ext cx="12812141" cy="9328404"/>
            </a:xfrm>
            <a:custGeom>
              <a:avLst/>
              <a:gdLst/>
              <a:ahLst/>
              <a:cxnLst/>
              <a:rect r="r" b="b" t="t" l="l"/>
              <a:pathLst>
                <a:path h="9328404" w="12812141">
                  <a:moveTo>
                    <a:pt x="0" y="0"/>
                  </a:moveTo>
                  <a:lnTo>
                    <a:pt x="12812141" y="0"/>
                  </a:lnTo>
                  <a:lnTo>
                    <a:pt x="12812141" y="9328404"/>
                  </a:lnTo>
                  <a:lnTo>
                    <a:pt x="0" y="9328404"/>
                  </a:lnTo>
                  <a:lnTo>
                    <a:pt x="0" y="0"/>
                  </a:lnTo>
                  <a:close/>
                </a:path>
              </a:pathLst>
            </a:custGeom>
            <a:blipFill>
              <a:blip r:embed="rId3"/>
              <a:stretch>
                <a:fillRect l="0" t="-24" r="0" b="-23"/>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9FF">
                <a:alpha val="90196"/>
              </a:srgbClr>
            </a:solidFill>
          </p:spPr>
        </p:sp>
      </p:grpSp>
      <p:sp>
        <p:nvSpPr>
          <p:cNvPr name="TextBox 6" id="6"/>
          <p:cNvSpPr txBox="true"/>
          <p:nvPr/>
        </p:nvSpPr>
        <p:spPr>
          <a:xfrm rot="0">
            <a:off x="795189" y="605730"/>
            <a:ext cx="3692426" cy="480566"/>
          </a:xfrm>
          <a:prstGeom prst="rect">
            <a:avLst/>
          </a:prstGeom>
        </p:spPr>
        <p:txBody>
          <a:bodyPr anchor="t" rtlCol="false" tIns="0" lIns="0" bIns="0" rIns="0">
            <a:spAutoFit/>
          </a:bodyPr>
          <a:lstStyle/>
          <a:p>
            <a:pPr algn="l">
              <a:lnSpc>
                <a:spcPts val="3625"/>
              </a:lnSpc>
            </a:pPr>
            <a:r>
              <a:rPr lang="en-US" sz="2874">
                <a:solidFill>
                  <a:srgbClr val="1B1B27"/>
                </a:solidFill>
                <a:latin typeface="Corben"/>
                <a:ea typeface="Corben"/>
                <a:cs typeface="Corben"/>
                <a:sym typeface="Corben"/>
              </a:rPr>
              <a:t>CODE USED </a:t>
            </a:r>
          </a:p>
        </p:txBody>
      </p:sp>
      <p:sp>
        <p:nvSpPr>
          <p:cNvPr name="TextBox 7" id="7"/>
          <p:cNvSpPr txBox="true"/>
          <p:nvPr/>
        </p:nvSpPr>
        <p:spPr>
          <a:xfrm rot="0">
            <a:off x="795189" y="1324421"/>
            <a:ext cx="16697622" cy="293340"/>
          </a:xfrm>
          <a:prstGeom prst="rect">
            <a:avLst/>
          </a:prstGeom>
        </p:spPr>
        <p:txBody>
          <a:bodyPr anchor="t" rtlCol="false" tIns="0" lIns="0" bIns="0" rIns="0">
            <a:spAutoFit/>
          </a:bodyPr>
          <a:lstStyle/>
          <a:p>
            <a:pPr algn="l">
              <a:lnSpc>
                <a:spcPts val="1812"/>
              </a:lnSpc>
            </a:pPr>
            <a:r>
              <a:rPr lang="en-US" sz="1124">
                <a:solidFill>
                  <a:srgbClr val="404155"/>
                </a:solidFill>
                <a:latin typeface="Arimo"/>
                <a:ea typeface="Arimo"/>
                <a:cs typeface="Arimo"/>
                <a:sym typeface="Arimo"/>
              </a:rPr>
              <a:t>&gt;&gt; import simscape.battery.builder.*</a:t>
            </a:r>
          </a:p>
        </p:txBody>
      </p:sp>
      <p:sp>
        <p:nvSpPr>
          <p:cNvPr name="TextBox 8" id="8"/>
          <p:cNvSpPr txBox="true"/>
          <p:nvPr/>
        </p:nvSpPr>
        <p:spPr>
          <a:xfrm rot="0">
            <a:off x="795189" y="1726704"/>
            <a:ext cx="16697622" cy="293340"/>
          </a:xfrm>
          <a:prstGeom prst="rect">
            <a:avLst/>
          </a:prstGeom>
        </p:spPr>
        <p:txBody>
          <a:bodyPr anchor="t" rtlCol="false" tIns="0" lIns="0" bIns="0" rIns="0">
            <a:spAutoFit/>
          </a:bodyPr>
          <a:lstStyle/>
          <a:p>
            <a:pPr algn="l">
              <a:lnSpc>
                <a:spcPts val="1812"/>
              </a:lnSpc>
            </a:pPr>
            <a:r>
              <a:rPr lang="en-US" sz="1124">
                <a:solidFill>
                  <a:srgbClr val="404155"/>
                </a:solidFill>
                <a:latin typeface="Arimo"/>
                <a:ea typeface="Arimo"/>
                <a:cs typeface="Arimo"/>
                <a:sym typeface="Arimo"/>
              </a:rPr>
              <a:t>&gt;&gt; pouchGeometry = batteryPouchGeometry(simscape.Value(0.1,"m"), simscape.Value(0.3,"m"), TabLocation="Opposed");</a:t>
            </a:r>
          </a:p>
        </p:txBody>
      </p:sp>
      <p:sp>
        <p:nvSpPr>
          <p:cNvPr name="TextBox 9" id="9"/>
          <p:cNvSpPr txBox="true"/>
          <p:nvPr/>
        </p:nvSpPr>
        <p:spPr>
          <a:xfrm rot="0">
            <a:off x="795189" y="2128986"/>
            <a:ext cx="16697622" cy="293340"/>
          </a:xfrm>
          <a:prstGeom prst="rect">
            <a:avLst/>
          </a:prstGeom>
        </p:spPr>
        <p:txBody>
          <a:bodyPr anchor="t" rtlCol="false" tIns="0" lIns="0" bIns="0" rIns="0">
            <a:spAutoFit/>
          </a:bodyPr>
          <a:lstStyle/>
          <a:p>
            <a:pPr algn="l">
              <a:lnSpc>
                <a:spcPts val="1812"/>
              </a:lnSpc>
            </a:pPr>
            <a:r>
              <a:rPr lang="en-US" sz="1124">
                <a:solidFill>
                  <a:srgbClr val="404155"/>
                </a:solidFill>
                <a:latin typeface="Arimo"/>
                <a:ea typeface="Arimo"/>
                <a:cs typeface="Arimo"/>
                <a:sym typeface="Arimo"/>
              </a:rPr>
              <a:t>&gt;&gt; pouchCell = batteryCell(pouchGeometry);</a:t>
            </a:r>
          </a:p>
        </p:txBody>
      </p:sp>
      <p:sp>
        <p:nvSpPr>
          <p:cNvPr name="TextBox 10" id="10"/>
          <p:cNvSpPr txBox="true"/>
          <p:nvPr/>
        </p:nvSpPr>
        <p:spPr>
          <a:xfrm rot="0">
            <a:off x="795189" y="2531269"/>
            <a:ext cx="16697622" cy="293340"/>
          </a:xfrm>
          <a:prstGeom prst="rect">
            <a:avLst/>
          </a:prstGeom>
        </p:spPr>
        <p:txBody>
          <a:bodyPr anchor="t" rtlCol="false" tIns="0" lIns="0" bIns="0" rIns="0">
            <a:spAutoFit/>
          </a:bodyPr>
          <a:lstStyle/>
          <a:p>
            <a:pPr algn="l">
              <a:lnSpc>
                <a:spcPts val="1812"/>
              </a:lnSpc>
            </a:pPr>
            <a:r>
              <a:rPr lang="en-US" sz="1124">
                <a:solidFill>
                  <a:srgbClr val="404155"/>
                </a:solidFill>
                <a:latin typeface="Arimo"/>
                <a:ea typeface="Arimo"/>
                <a:cs typeface="Arimo"/>
                <a:sym typeface="Arimo"/>
              </a:rPr>
              <a:t>pouchCell.CellModelOptions.BlockParameters.thermal_port = "model";  </a:t>
            </a:r>
          </a:p>
        </p:txBody>
      </p:sp>
      <p:sp>
        <p:nvSpPr>
          <p:cNvPr name="TextBox 11" id="11"/>
          <p:cNvSpPr txBox="true"/>
          <p:nvPr/>
        </p:nvSpPr>
        <p:spPr>
          <a:xfrm rot="0">
            <a:off x="795189" y="2933551"/>
            <a:ext cx="16697622" cy="293340"/>
          </a:xfrm>
          <a:prstGeom prst="rect">
            <a:avLst/>
          </a:prstGeom>
        </p:spPr>
        <p:txBody>
          <a:bodyPr anchor="t" rtlCol="false" tIns="0" lIns="0" bIns="0" rIns="0">
            <a:spAutoFit/>
          </a:bodyPr>
          <a:lstStyle/>
          <a:p>
            <a:pPr algn="l">
              <a:lnSpc>
                <a:spcPts val="1812"/>
              </a:lnSpc>
            </a:pPr>
            <a:r>
              <a:rPr lang="en-US" sz="1124">
                <a:solidFill>
                  <a:srgbClr val="404155"/>
                </a:solidFill>
                <a:latin typeface="Arimo"/>
                <a:ea typeface="Arimo"/>
                <a:cs typeface="Arimo"/>
                <a:sym typeface="Arimo"/>
              </a:rPr>
              <a:t>f0 = figure(Name="Single Pouch Cell", Color="white");</a:t>
            </a:r>
          </a:p>
        </p:txBody>
      </p:sp>
      <p:sp>
        <p:nvSpPr>
          <p:cNvPr name="TextBox 12" id="12"/>
          <p:cNvSpPr txBox="true"/>
          <p:nvPr/>
        </p:nvSpPr>
        <p:spPr>
          <a:xfrm rot="0">
            <a:off x="795189" y="3335834"/>
            <a:ext cx="16697622" cy="293340"/>
          </a:xfrm>
          <a:prstGeom prst="rect">
            <a:avLst/>
          </a:prstGeom>
        </p:spPr>
        <p:txBody>
          <a:bodyPr anchor="t" rtlCol="false" tIns="0" lIns="0" bIns="0" rIns="0">
            <a:spAutoFit/>
          </a:bodyPr>
          <a:lstStyle/>
          <a:p>
            <a:pPr algn="l">
              <a:lnSpc>
                <a:spcPts val="1812"/>
              </a:lnSpc>
            </a:pPr>
            <a:r>
              <a:rPr lang="en-US" sz="1124">
                <a:solidFill>
                  <a:srgbClr val="404155"/>
                </a:solidFill>
                <a:latin typeface="Arimo"/>
                <a:ea typeface="Arimo"/>
                <a:cs typeface="Arimo"/>
                <a:sym typeface="Arimo"/>
              </a:rPr>
              <a:t>batteryChart(f0, pouchCell);</a:t>
            </a:r>
          </a:p>
        </p:txBody>
      </p:sp>
      <p:sp>
        <p:nvSpPr>
          <p:cNvPr name="TextBox 13" id="13"/>
          <p:cNvSpPr txBox="true"/>
          <p:nvPr/>
        </p:nvSpPr>
        <p:spPr>
          <a:xfrm rot="0">
            <a:off x="795189" y="3738116"/>
            <a:ext cx="16697622" cy="293340"/>
          </a:xfrm>
          <a:prstGeom prst="rect">
            <a:avLst/>
          </a:prstGeom>
        </p:spPr>
        <p:txBody>
          <a:bodyPr anchor="t" rtlCol="false" tIns="0" lIns="0" bIns="0" rIns="0">
            <a:spAutoFit/>
          </a:bodyPr>
          <a:lstStyle/>
          <a:p>
            <a:pPr algn="l">
              <a:lnSpc>
                <a:spcPts val="1812"/>
              </a:lnSpc>
            </a:pPr>
            <a:r>
              <a:rPr lang="en-US" sz="1124">
                <a:solidFill>
                  <a:srgbClr val="404155"/>
                </a:solidFill>
                <a:latin typeface="Arimo"/>
                <a:ea typeface="Arimo"/>
                <a:cs typeface="Arimo"/>
                <a:sym typeface="Arimo"/>
              </a:rPr>
              <a:t>&gt;&gt; parallelAssembly = batteryParallelAssembly(pouchCell, 3);</a:t>
            </a:r>
          </a:p>
        </p:txBody>
      </p:sp>
      <p:sp>
        <p:nvSpPr>
          <p:cNvPr name="TextBox 14" id="14"/>
          <p:cNvSpPr txBox="true"/>
          <p:nvPr/>
        </p:nvSpPr>
        <p:spPr>
          <a:xfrm rot="0">
            <a:off x="795189" y="4140399"/>
            <a:ext cx="16697622" cy="293340"/>
          </a:xfrm>
          <a:prstGeom prst="rect">
            <a:avLst/>
          </a:prstGeom>
        </p:spPr>
        <p:txBody>
          <a:bodyPr anchor="t" rtlCol="false" tIns="0" lIns="0" bIns="0" rIns="0">
            <a:spAutoFit/>
          </a:bodyPr>
          <a:lstStyle/>
          <a:p>
            <a:pPr algn="l">
              <a:lnSpc>
                <a:spcPts val="1812"/>
              </a:lnSpc>
            </a:pPr>
            <a:r>
              <a:rPr lang="en-US" sz="1124">
                <a:solidFill>
                  <a:srgbClr val="404155"/>
                </a:solidFill>
                <a:latin typeface="Arimo"/>
                <a:ea typeface="Arimo"/>
                <a:cs typeface="Arimo"/>
                <a:sym typeface="Arimo"/>
              </a:rPr>
              <a:t>&gt;&gt; f1 = figure(Name="Parallel Assembly", Color="white");</a:t>
            </a:r>
          </a:p>
        </p:txBody>
      </p:sp>
      <p:sp>
        <p:nvSpPr>
          <p:cNvPr name="TextBox 15" id="15"/>
          <p:cNvSpPr txBox="true"/>
          <p:nvPr/>
        </p:nvSpPr>
        <p:spPr>
          <a:xfrm rot="0">
            <a:off x="795189" y="4542681"/>
            <a:ext cx="16697622" cy="293340"/>
          </a:xfrm>
          <a:prstGeom prst="rect">
            <a:avLst/>
          </a:prstGeom>
        </p:spPr>
        <p:txBody>
          <a:bodyPr anchor="t" rtlCol="false" tIns="0" lIns="0" bIns="0" rIns="0">
            <a:spAutoFit/>
          </a:bodyPr>
          <a:lstStyle/>
          <a:p>
            <a:pPr algn="l">
              <a:lnSpc>
                <a:spcPts val="1812"/>
              </a:lnSpc>
            </a:pPr>
            <a:r>
              <a:rPr lang="en-US" sz="1124">
                <a:solidFill>
                  <a:srgbClr val="404155"/>
                </a:solidFill>
                <a:latin typeface="Arimo"/>
                <a:ea typeface="Arimo"/>
                <a:cs typeface="Arimo"/>
                <a:sym typeface="Arimo"/>
              </a:rPr>
              <a:t>batteryChart(f1, parallelAssembly);</a:t>
            </a:r>
          </a:p>
        </p:txBody>
      </p:sp>
      <p:sp>
        <p:nvSpPr>
          <p:cNvPr name="TextBox 16" id="16"/>
          <p:cNvSpPr txBox="true"/>
          <p:nvPr/>
        </p:nvSpPr>
        <p:spPr>
          <a:xfrm rot="0">
            <a:off x="795189" y="4944964"/>
            <a:ext cx="16697622" cy="293340"/>
          </a:xfrm>
          <a:prstGeom prst="rect">
            <a:avLst/>
          </a:prstGeom>
        </p:spPr>
        <p:txBody>
          <a:bodyPr anchor="t" rtlCol="false" tIns="0" lIns="0" bIns="0" rIns="0">
            <a:spAutoFit/>
          </a:bodyPr>
          <a:lstStyle/>
          <a:p>
            <a:pPr algn="l">
              <a:lnSpc>
                <a:spcPts val="1812"/>
              </a:lnSpc>
            </a:pPr>
            <a:r>
              <a:rPr lang="en-US" sz="1124">
                <a:solidFill>
                  <a:srgbClr val="404155"/>
                </a:solidFill>
                <a:latin typeface="Arimo"/>
                <a:ea typeface="Arimo"/>
                <a:cs typeface="Arimo"/>
                <a:sym typeface="Arimo"/>
              </a:rPr>
              <a:t>&gt;&gt; module = batteryModule(parallelAssembly, 11, InterParallelAssemblyGap=simscape.Value(0.005,"m"));</a:t>
            </a:r>
          </a:p>
        </p:txBody>
      </p:sp>
      <p:sp>
        <p:nvSpPr>
          <p:cNvPr name="TextBox 17" id="17"/>
          <p:cNvSpPr txBox="true"/>
          <p:nvPr/>
        </p:nvSpPr>
        <p:spPr>
          <a:xfrm rot="0">
            <a:off x="795189" y="5347246"/>
            <a:ext cx="16697622" cy="293340"/>
          </a:xfrm>
          <a:prstGeom prst="rect">
            <a:avLst/>
          </a:prstGeom>
        </p:spPr>
        <p:txBody>
          <a:bodyPr anchor="t" rtlCol="false" tIns="0" lIns="0" bIns="0" rIns="0">
            <a:spAutoFit/>
          </a:bodyPr>
          <a:lstStyle/>
          <a:p>
            <a:pPr algn="l">
              <a:lnSpc>
                <a:spcPts val="1812"/>
              </a:lnSpc>
            </a:pPr>
            <a:r>
              <a:rPr lang="en-US" sz="1124">
                <a:solidFill>
                  <a:srgbClr val="404155"/>
                </a:solidFill>
                <a:latin typeface="Arimo"/>
                <a:ea typeface="Arimo"/>
                <a:cs typeface="Arimo"/>
                <a:sym typeface="Arimo"/>
              </a:rPr>
              <a:t>&gt;&gt; f2 = figure(Name="Battery Module", Color="white");</a:t>
            </a:r>
          </a:p>
        </p:txBody>
      </p:sp>
      <p:sp>
        <p:nvSpPr>
          <p:cNvPr name="TextBox 18" id="18"/>
          <p:cNvSpPr txBox="true"/>
          <p:nvPr/>
        </p:nvSpPr>
        <p:spPr>
          <a:xfrm rot="0">
            <a:off x="795189" y="5749529"/>
            <a:ext cx="16697622" cy="293340"/>
          </a:xfrm>
          <a:prstGeom prst="rect">
            <a:avLst/>
          </a:prstGeom>
        </p:spPr>
        <p:txBody>
          <a:bodyPr anchor="t" rtlCol="false" tIns="0" lIns="0" bIns="0" rIns="0">
            <a:spAutoFit/>
          </a:bodyPr>
          <a:lstStyle/>
          <a:p>
            <a:pPr algn="l">
              <a:lnSpc>
                <a:spcPts val="1812"/>
              </a:lnSpc>
            </a:pPr>
            <a:r>
              <a:rPr lang="en-US" sz="1124">
                <a:solidFill>
                  <a:srgbClr val="404155"/>
                </a:solidFill>
                <a:latin typeface="Arimo"/>
                <a:ea typeface="Arimo"/>
                <a:cs typeface="Arimo"/>
                <a:sym typeface="Arimo"/>
              </a:rPr>
              <a:t>batteryChart(f2, module);</a:t>
            </a:r>
          </a:p>
        </p:txBody>
      </p:sp>
      <p:sp>
        <p:nvSpPr>
          <p:cNvPr name="TextBox 19" id="19"/>
          <p:cNvSpPr txBox="true"/>
          <p:nvPr/>
        </p:nvSpPr>
        <p:spPr>
          <a:xfrm rot="0">
            <a:off x="795189" y="6151810"/>
            <a:ext cx="16697622" cy="293340"/>
          </a:xfrm>
          <a:prstGeom prst="rect">
            <a:avLst/>
          </a:prstGeom>
        </p:spPr>
        <p:txBody>
          <a:bodyPr anchor="t" rtlCol="false" tIns="0" lIns="0" bIns="0" rIns="0">
            <a:spAutoFit/>
          </a:bodyPr>
          <a:lstStyle/>
          <a:p>
            <a:pPr algn="l">
              <a:lnSpc>
                <a:spcPts val="1812"/>
              </a:lnSpc>
            </a:pPr>
            <a:r>
              <a:rPr lang="en-US" sz="1124">
                <a:solidFill>
                  <a:srgbClr val="404155"/>
                </a:solidFill>
                <a:latin typeface="Arimo"/>
                <a:ea typeface="Arimo"/>
                <a:cs typeface="Arimo"/>
                <a:sym typeface="Arimo"/>
              </a:rPr>
              <a:t>&gt;&gt; moduleAssembly = batteryModuleAssembly(repmat(module,1,2), InterModuleGap=simscape.Value(0.1,"m"));</a:t>
            </a:r>
          </a:p>
        </p:txBody>
      </p:sp>
      <p:sp>
        <p:nvSpPr>
          <p:cNvPr name="TextBox 20" id="20"/>
          <p:cNvSpPr txBox="true"/>
          <p:nvPr/>
        </p:nvSpPr>
        <p:spPr>
          <a:xfrm rot="0">
            <a:off x="795189" y="6554092"/>
            <a:ext cx="16697622" cy="293340"/>
          </a:xfrm>
          <a:prstGeom prst="rect">
            <a:avLst/>
          </a:prstGeom>
        </p:spPr>
        <p:txBody>
          <a:bodyPr anchor="t" rtlCol="false" tIns="0" lIns="0" bIns="0" rIns="0">
            <a:spAutoFit/>
          </a:bodyPr>
          <a:lstStyle/>
          <a:p>
            <a:pPr algn="l">
              <a:lnSpc>
                <a:spcPts val="1812"/>
              </a:lnSpc>
            </a:pPr>
            <a:r>
              <a:rPr lang="en-US" sz="1124">
                <a:solidFill>
                  <a:srgbClr val="404155"/>
                </a:solidFill>
                <a:latin typeface="Arimo"/>
                <a:ea typeface="Arimo"/>
                <a:cs typeface="Arimo"/>
                <a:sym typeface="Arimo"/>
              </a:rPr>
              <a:t>&gt;&gt; f3 = figure(Name="Module Assembly", Color="white");</a:t>
            </a:r>
          </a:p>
        </p:txBody>
      </p:sp>
      <p:sp>
        <p:nvSpPr>
          <p:cNvPr name="TextBox 21" id="21"/>
          <p:cNvSpPr txBox="true"/>
          <p:nvPr/>
        </p:nvSpPr>
        <p:spPr>
          <a:xfrm rot="0">
            <a:off x="795189" y="6956375"/>
            <a:ext cx="16697622" cy="293340"/>
          </a:xfrm>
          <a:prstGeom prst="rect">
            <a:avLst/>
          </a:prstGeom>
        </p:spPr>
        <p:txBody>
          <a:bodyPr anchor="t" rtlCol="false" tIns="0" lIns="0" bIns="0" rIns="0">
            <a:spAutoFit/>
          </a:bodyPr>
          <a:lstStyle/>
          <a:p>
            <a:pPr algn="l">
              <a:lnSpc>
                <a:spcPts val="1812"/>
              </a:lnSpc>
            </a:pPr>
            <a:r>
              <a:rPr lang="en-US" sz="1124">
                <a:solidFill>
                  <a:srgbClr val="404155"/>
                </a:solidFill>
                <a:latin typeface="Arimo"/>
                <a:ea typeface="Arimo"/>
                <a:cs typeface="Arimo"/>
                <a:sym typeface="Arimo"/>
              </a:rPr>
              <a:t>batteryChart(f3, moduleAssembly);</a:t>
            </a:r>
          </a:p>
        </p:txBody>
      </p:sp>
      <p:sp>
        <p:nvSpPr>
          <p:cNvPr name="TextBox 22" id="22"/>
          <p:cNvSpPr txBox="true"/>
          <p:nvPr/>
        </p:nvSpPr>
        <p:spPr>
          <a:xfrm rot="0">
            <a:off x="795189" y="7358657"/>
            <a:ext cx="16697622" cy="293340"/>
          </a:xfrm>
          <a:prstGeom prst="rect">
            <a:avLst/>
          </a:prstGeom>
        </p:spPr>
        <p:txBody>
          <a:bodyPr anchor="t" rtlCol="false" tIns="0" lIns="0" bIns="0" rIns="0">
            <a:spAutoFit/>
          </a:bodyPr>
          <a:lstStyle/>
          <a:p>
            <a:pPr algn="l">
              <a:lnSpc>
                <a:spcPts val="1812"/>
              </a:lnSpc>
            </a:pPr>
            <a:r>
              <a:rPr lang="en-US" sz="1124">
                <a:solidFill>
                  <a:srgbClr val="404155"/>
                </a:solidFill>
                <a:latin typeface="Arimo"/>
                <a:ea typeface="Arimo"/>
                <a:cs typeface="Arimo"/>
                <a:sym typeface="Arimo"/>
              </a:rPr>
              <a:t>&gt;&gt; pack = batteryPack(repmat(moduleAssembly,1,5), InterModuleAssemblyGap=simscape.Value(0.01,"m"));</a:t>
            </a:r>
          </a:p>
        </p:txBody>
      </p:sp>
      <p:sp>
        <p:nvSpPr>
          <p:cNvPr name="TextBox 23" id="23"/>
          <p:cNvSpPr txBox="true"/>
          <p:nvPr/>
        </p:nvSpPr>
        <p:spPr>
          <a:xfrm rot="0">
            <a:off x="795189" y="7760940"/>
            <a:ext cx="16697622" cy="293340"/>
          </a:xfrm>
          <a:prstGeom prst="rect">
            <a:avLst/>
          </a:prstGeom>
        </p:spPr>
        <p:txBody>
          <a:bodyPr anchor="t" rtlCol="false" tIns="0" lIns="0" bIns="0" rIns="0">
            <a:spAutoFit/>
          </a:bodyPr>
          <a:lstStyle/>
          <a:p>
            <a:pPr algn="l">
              <a:lnSpc>
                <a:spcPts val="1812"/>
              </a:lnSpc>
            </a:pPr>
            <a:r>
              <a:rPr lang="en-US" sz="1124">
                <a:solidFill>
                  <a:srgbClr val="404155"/>
                </a:solidFill>
                <a:latin typeface="Arimo"/>
                <a:ea typeface="Arimo"/>
                <a:cs typeface="Arimo"/>
                <a:sym typeface="Arimo"/>
              </a:rPr>
              <a:t>&gt;&gt; f4 = figure(Name="Battery Pack", Color="white", Position=[0 0 1000 500]);</a:t>
            </a:r>
          </a:p>
        </p:txBody>
      </p:sp>
      <p:sp>
        <p:nvSpPr>
          <p:cNvPr name="TextBox 24" id="24"/>
          <p:cNvSpPr txBox="true"/>
          <p:nvPr/>
        </p:nvSpPr>
        <p:spPr>
          <a:xfrm rot="0">
            <a:off x="795189" y="8163222"/>
            <a:ext cx="16697622" cy="293340"/>
          </a:xfrm>
          <a:prstGeom prst="rect">
            <a:avLst/>
          </a:prstGeom>
        </p:spPr>
        <p:txBody>
          <a:bodyPr anchor="t" rtlCol="false" tIns="0" lIns="0" bIns="0" rIns="0">
            <a:spAutoFit/>
          </a:bodyPr>
          <a:lstStyle/>
          <a:p>
            <a:pPr algn="l">
              <a:lnSpc>
                <a:spcPts val="1812"/>
              </a:lnSpc>
            </a:pPr>
            <a:r>
              <a:rPr lang="en-US" sz="1124">
                <a:solidFill>
                  <a:srgbClr val="404155"/>
                </a:solidFill>
                <a:latin typeface="Arimo"/>
                <a:ea typeface="Arimo"/>
                <a:cs typeface="Arimo"/>
                <a:sym typeface="Arimo"/>
              </a:rPr>
              <a:t>batteryChart(f4, pack, SimulationStrategyVisible="on");</a:t>
            </a:r>
          </a:p>
        </p:txBody>
      </p:sp>
      <p:sp>
        <p:nvSpPr>
          <p:cNvPr name="TextBox 25" id="25"/>
          <p:cNvSpPr txBox="true"/>
          <p:nvPr/>
        </p:nvSpPr>
        <p:spPr>
          <a:xfrm rot="0">
            <a:off x="795189" y="8565505"/>
            <a:ext cx="16697622" cy="293340"/>
          </a:xfrm>
          <a:prstGeom prst="rect">
            <a:avLst/>
          </a:prstGeom>
        </p:spPr>
        <p:txBody>
          <a:bodyPr anchor="t" rtlCol="false" tIns="0" lIns="0" bIns="0" rIns="0">
            <a:spAutoFit/>
          </a:bodyPr>
          <a:lstStyle/>
          <a:p>
            <a:pPr algn="l">
              <a:lnSpc>
                <a:spcPts val="1812"/>
              </a:lnSpc>
            </a:pPr>
            <a:r>
              <a:rPr lang="en-US" sz="1124">
                <a:solidFill>
                  <a:srgbClr val="404155"/>
                </a:solidFill>
                <a:latin typeface="Arimo"/>
                <a:ea typeface="Arimo"/>
                <a:cs typeface="Arimo"/>
                <a:sym typeface="Arimo"/>
              </a:rPr>
              <a:t>&gt;&gt; buildBattery(pack, LibraryName="packLibraryBTM");</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9FF">
                <a:alpha val="90196"/>
              </a:srgbClr>
            </a:solidFill>
          </p:spPr>
        </p:sp>
      </p:grpSp>
      <p:sp>
        <p:nvSpPr>
          <p:cNvPr name="TextBox 6" id="6"/>
          <p:cNvSpPr txBox="true"/>
          <p:nvPr/>
        </p:nvSpPr>
        <p:spPr>
          <a:xfrm rot="0">
            <a:off x="949226" y="726728"/>
            <a:ext cx="5692379" cy="569862"/>
          </a:xfrm>
          <a:prstGeom prst="rect">
            <a:avLst/>
          </a:prstGeom>
        </p:spPr>
        <p:txBody>
          <a:bodyPr anchor="t" rtlCol="false" tIns="0" lIns="0" bIns="0" rIns="0">
            <a:spAutoFit/>
          </a:bodyPr>
          <a:lstStyle/>
          <a:p>
            <a:pPr algn="l">
              <a:lnSpc>
                <a:spcPts val="4312"/>
              </a:lnSpc>
            </a:pPr>
            <a:r>
              <a:rPr lang="en-US" sz="3437">
                <a:solidFill>
                  <a:srgbClr val="1B1B27"/>
                </a:solidFill>
                <a:latin typeface="Corben"/>
                <a:ea typeface="Corben"/>
                <a:cs typeface="Corben"/>
                <a:sym typeface="Corben"/>
              </a:rPr>
              <a:t>Current Progress Summary</a:t>
            </a:r>
          </a:p>
        </p:txBody>
      </p:sp>
      <p:grpSp>
        <p:nvGrpSpPr>
          <p:cNvPr name="Group 7" id="7"/>
          <p:cNvGrpSpPr/>
          <p:nvPr/>
        </p:nvGrpSpPr>
        <p:grpSpPr>
          <a:xfrm rot="0">
            <a:off x="949226" y="1759149"/>
            <a:ext cx="7979717" cy="7979717"/>
            <a:chOff x="0" y="0"/>
            <a:chExt cx="10639623" cy="10639623"/>
          </a:xfrm>
        </p:grpSpPr>
        <p:sp>
          <p:nvSpPr>
            <p:cNvPr name="Freeform 8" id="8" descr="preencoded.png"/>
            <p:cNvSpPr/>
            <p:nvPr/>
          </p:nvSpPr>
          <p:spPr>
            <a:xfrm flipH="false" flipV="false" rot="0">
              <a:off x="0" y="0"/>
              <a:ext cx="10639679" cy="10639679"/>
            </a:xfrm>
            <a:custGeom>
              <a:avLst/>
              <a:gdLst/>
              <a:ahLst/>
              <a:cxnLst/>
              <a:rect r="r" b="b" t="t" l="l"/>
              <a:pathLst>
                <a:path h="10639679" w="10639679">
                  <a:moveTo>
                    <a:pt x="0" y="0"/>
                  </a:moveTo>
                  <a:lnTo>
                    <a:pt x="10639679" y="0"/>
                  </a:lnTo>
                  <a:lnTo>
                    <a:pt x="10639679" y="10639679"/>
                  </a:lnTo>
                  <a:lnTo>
                    <a:pt x="0" y="10639679"/>
                  </a:lnTo>
                  <a:lnTo>
                    <a:pt x="0" y="0"/>
                  </a:lnTo>
                  <a:close/>
                </a:path>
              </a:pathLst>
            </a:custGeom>
            <a:blipFill>
              <a:blip r:embed="rId3"/>
              <a:stretch>
                <a:fillRect l="0" t="0" r="0" b="0"/>
              </a:stretch>
            </a:blipFill>
          </p:spPr>
        </p:sp>
      </p:grpSp>
      <p:grpSp>
        <p:nvGrpSpPr>
          <p:cNvPr name="Group 9" id="9"/>
          <p:cNvGrpSpPr/>
          <p:nvPr/>
        </p:nvGrpSpPr>
        <p:grpSpPr>
          <a:xfrm rot="0">
            <a:off x="9363819" y="1754386"/>
            <a:ext cx="406152" cy="406153"/>
            <a:chOff x="0" y="0"/>
            <a:chExt cx="541537" cy="541537"/>
          </a:xfrm>
        </p:grpSpPr>
        <p:sp>
          <p:nvSpPr>
            <p:cNvPr name="Freeform 10" id="10"/>
            <p:cNvSpPr/>
            <p:nvPr/>
          </p:nvSpPr>
          <p:spPr>
            <a:xfrm flipH="false" flipV="false" rot="0">
              <a:off x="6350" y="6350"/>
              <a:ext cx="528828" cy="528828"/>
            </a:xfrm>
            <a:custGeom>
              <a:avLst/>
              <a:gdLst/>
              <a:ahLst/>
              <a:cxnLst/>
              <a:rect r="r" b="b" t="t" l="l"/>
              <a:pathLst>
                <a:path h="528828" w="528828">
                  <a:moveTo>
                    <a:pt x="0" y="98679"/>
                  </a:moveTo>
                  <a:cubicBezTo>
                    <a:pt x="0" y="44196"/>
                    <a:pt x="44196" y="0"/>
                    <a:pt x="98679" y="0"/>
                  </a:cubicBezTo>
                  <a:lnTo>
                    <a:pt x="430149" y="0"/>
                  </a:lnTo>
                  <a:cubicBezTo>
                    <a:pt x="484632" y="0"/>
                    <a:pt x="528828" y="44196"/>
                    <a:pt x="528828" y="98679"/>
                  </a:cubicBezTo>
                  <a:lnTo>
                    <a:pt x="528828" y="430149"/>
                  </a:lnTo>
                  <a:cubicBezTo>
                    <a:pt x="528828" y="484632"/>
                    <a:pt x="484632" y="528828"/>
                    <a:pt x="430149" y="528828"/>
                  </a:cubicBezTo>
                  <a:lnTo>
                    <a:pt x="98679" y="528828"/>
                  </a:lnTo>
                  <a:cubicBezTo>
                    <a:pt x="44196" y="528828"/>
                    <a:pt x="0" y="484632"/>
                    <a:pt x="0" y="430149"/>
                  </a:cubicBezTo>
                  <a:close/>
                </a:path>
              </a:pathLst>
            </a:custGeom>
            <a:solidFill>
              <a:srgbClr val="D2D9F9"/>
            </a:solidFill>
          </p:spPr>
        </p:sp>
        <p:sp>
          <p:nvSpPr>
            <p:cNvPr name="Freeform 11" id="11"/>
            <p:cNvSpPr/>
            <p:nvPr/>
          </p:nvSpPr>
          <p:spPr>
            <a:xfrm flipH="false" flipV="false" rot="0">
              <a:off x="0" y="0"/>
              <a:ext cx="541528" cy="541528"/>
            </a:xfrm>
            <a:custGeom>
              <a:avLst/>
              <a:gdLst/>
              <a:ahLst/>
              <a:cxnLst/>
              <a:rect r="r" b="b" t="t" l="l"/>
              <a:pathLst>
                <a:path h="541528" w="541528">
                  <a:moveTo>
                    <a:pt x="0" y="105029"/>
                  </a:moveTo>
                  <a:cubicBezTo>
                    <a:pt x="0" y="46990"/>
                    <a:pt x="46990" y="0"/>
                    <a:pt x="105029" y="0"/>
                  </a:cubicBezTo>
                  <a:lnTo>
                    <a:pt x="436499" y="0"/>
                  </a:lnTo>
                  <a:lnTo>
                    <a:pt x="436499" y="6350"/>
                  </a:lnTo>
                  <a:lnTo>
                    <a:pt x="436499" y="0"/>
                  </a:lnTo>
                  <a:cubicBezTo>
                    <a:pt x="494538" y="0"/>
                    <a:pt x="541528" y="46990"/>
                    <a:pt x="541528" y="105029"/>
                  </a:cubicBezTo>
                  <a:lnTo>
                    <a:pt x="535178" y="105029"/>
                  </a:lnTo>
                  <a:lnTo>
                    <a:pt x="541528" y="105029"/>
                  </a:lnTo>
                  <a:lnTo>
                    <a:pt x="541528" y="436499"/>
                  </a:lnTo>
                  <a:lnTo>
                    <a:pt x="535178" y="436499"/>
                  </a:lnTo>
                  <a:lnTo>
                    <a:pt x="541528" y="436499"/>
                  </a:lnTo>
                  <a:cubicBezTo>
                    <a:pt x="541528" y="494538"/>
                    <a:pt x="494538" y="541528"/>
                    <a:pt x="436499" y="541528"/>
                  </a:cubicBezTo>
                  <a:lnTo>
                    <a:pt x="436499" y="535178"/>
                  </a:lnTo>
                  <a:lnTo>
                    <a:pt x="436499" y="541528"/>
                  </a:lnTo>
                  <a:lnTo>
                    <a:pt x="105029" y="541528"/>
                  </a:lnTo>
                  <a:lnTo>
                    <a:pt x="105029" y="535178"/>
                  </a:lnTo>
                  <a:lnTo>
                    <a:pt x="105029" y="541528"/>
                  </a:lnTo>
                  <a:cubicBezTo>
                    <a:pt x="46990" y="541528"/>
                    <a:pt x="0" y="494538"/>
                    <a:pt x="0" y="436499"/>
                  </a:cubicBezTo>
                  <a:lnTo>
                    <a:pt x="0" y="105029"/>
                  </a:lnTo>
                  <a:lnTo>
                    <a:pt x="6350" y="105029"/>
                  </a:lnTo>
                  <a:lnTo>
                    <a:pt x="0" y="105029"/>
                  </a:lnTo>
                  <a:moveTo>
                    <a:pt x="12700" y="105029"/>
                  </a:moveTo>
                  <a:lnTo>
                    <a:pt x="12700" y="436499"/>
                  </a:lnTo>
                  <a:lnTo>
                    <a:pt x="6350" y="436499"/>
                  </a:lnTo>
                  <a:lnTo>
                    <a:pt x="12700" y="436499"/>
                  </a:lnTo>
                  <a:cubicBezTo>
                    <a:pt x="12700" y="487553"/>
                    <a:pt x="54102" y="528828"/>
                    <a:pt x="105029" y="528828"/>
                  </a:cubicBezTo>
                  <a:lnTo>
                    <a:pt x="436499" y="528828"/>
                  </a:lnTo>
                  <a:cubicBezTo>
                    <a:pt x="487553" y="528828"/>
                    <a:pt x="528828" y="487426"/>
                    <a:pt x="528828" y="436499"/>
                  </a:cubicBezTo>
                  <a:lnTo>
                    <a:pt x="528828" y="105029"/>
                  </a:lnTo>
                  <a:cubicBezTo>
                    <a:pt x="528828" y="54102"/>
                    <a:pt x="487426" y="12700"/>
                    <a:pt x="436499" y="12700"/>
                  </a:cubicBezTo>
                  <a:lnTo>
                    <a:pt x="105029" y="12700"/>
                  </a:lnTo>
                  <a:lnTo>
                    <a:pt x="105029" y="6350"/>
                  </a:lnTo>
                  <a:lnTo>
                    <a:pt x="105029" y="12700"/>
                  </a:lnTo>
                  <a:cubicBezTo>
                    <a:pt x="54102" y="12700"/>
                    <a:pt x="12700" y="54102"/>
                    <a:pt x="12700" y="105029"/>
                  </a:cubicBezTo>
                  <a:close/>
                </a:path>
              </a:pathLst>
            </a:custGeom>
            <a:solidFill>
              <a:srgbClr val="B8BFDF"/>
            </a:solidFill>
          </p:spPr>
        </p:sp>
      </p:grpSp>
      <p:sp>
        <p:nvSpPr>
          <p:cNvPr name="TextBox 12" id="12"/>
          <p:cNvSpPr txBox="true"/>
          <p:nvPr/>
        </p:nvSpPr>
        <p:spPr>
          <a:xfrm rot="0">
            <a:off x="9434661" y="1830214"/>
            <a:ext cx="264319" cy="292447"/>
          </a:xfrm>
          <a:prstGeom prst="rect">
            <a:avLst/>
          </a:prstGeom>
        </p:spPr>
        <p:txBody>
          <a:bodyPr anchor="t" rtlCol="false" tIns="0" lIns="0" bIns="0" rIns="0">
            <a:spAutoFit/>
          </a:bodyPr>
          <a:lstStyle/>
          <a:p>
            <a:pPr algn="ctr">
              <a:lnSpc>
                <a:spcPts val="2062"/>
              </a:lnSpc>
            </a:pPr>
            <a:r>
              <a:rPr lang="en-US" sz="2062">
                <a:solidFill>
                  <a:srgbClr val="404155"/>
                </a:solidFill>
                <a:latin typeface="Corben"/>
                <a:ea typeface="Corben"/>
                <a:cs typeface="Corben"/>
                <a:sym typeface="Corben"/>
              </a:rPr>
              <a:t>1</a:t>
            </a:r>
          </a:p>
        </p:txBody>
      </p:sp>
      <p:sp>
        <p:nvSpPr>
          <p:cNvPr name="TextBox 13" id="13"/>
          <p:cNvSpPr txBox="true"/>
          <p:nvPr/>
        </p:nvSpPr>
        <p:spPr>
          <a:xfrm rot="0">
            <a:off x="9941421" y="1800671"/>
            <a:ext cx="2795588" cy="294531"/>
          </a:xfrm>
          <a:prstGeom prst="rect">
            <a:avLst/>
          </a:prstGeom>
        </p:spPr>
        <p:txBody>
          <a:bodyPr anchor="t" rtlCol="false" tIns="0" lIns="0" bIns="0" rIns="0">
            <a:spAutoFit/>
          </a:bodyPr>
          <a:lstStyle/>
          <a:p>
            <a:pPr algn="l">
              <a:lnSpc>
                <a:spcPts val="2124"/>
              </a:lnSpc>
            </a:pPr>
            <a:r>
              <a:rPr lang="en-US" sz="1687">
                <a:solidFill>
                  <a:srgbClr val="404155"/>
                </a:solidFill>
                <a:latin typeface="Corben"/>
                <a:ea typeface="Corben"/>
                <a:cs typeface="Corben"/>
                <a:sym typeface="Corben"/>
              </a:rPr>
              <a:t>Pack Structure Completion</a:t>
            </a:r>
          </a:p>
        </p:txBody>
      </p:sp>
      <p:sp>
        <p:nvSpPr>
          <p:cNvPr name="TextBox 14" id="14"/>
          <p:cNvSpPr txBox="true"/>
          <p:nvPr/>
        </p:nvSpPr>
        <p:spPr>
          <a:xfrm rot="0">
            <a:off x="9941421" y="2204740"/>
            <a:ext cx="7406879" cy="631031"/>
          </a:xfrm>
          <a:prstGeom prst="rect">
            <a:avLst/>
          </a:prstGeom>
        </p:spPr>
        <p:txBody>
          <a:bodyPr anchor="t" rtlCol="false" tIns="0" lIns="0" bIns="0" rIns="0">
            <a:spAutoFit/>
          </a:bodyPr>
          <a:lstStyle/>
          <a:p>
            <a:pPr algn="l">
              <a:lnSpc>
                <a:spcPts val="2187"/>
              </a:lnSpc>
            </a:pPr>
            <a:r>
              <a:rPr lang="en-US" sz="1375">
                <a:solidFill>
                  <a:srgbClr val="404155"/>
                </a:solidFill>
                <a:latin typeface="Arimo"/>
                <a:ea typeface="Arimo"/>
                <a:cs typeface="Arimo"/>
                <a:sym typeface="Arimo"/>
              </a:rPr>
              <a:t>The comprehensive battery pack structure, from cell to module to full assembly, has been successfully created and verified.</a:t>
            </a:r>
          </a:p>
        </p:txBody>
      </p:sp>
      <p:grpSp>
        <p:nvGrpSpPr>
          <p:cNvPr name="Group 15" id="15"/>
          <p:cNvGrpSpPr/>
          <p:nvPr/>
        </p:nvGrpSpPr>
        <p:grpSpPr>
          <a:xfrm rot="0">
            <a:off x="9363819" y="3183582"/>
            <a:ext cx="406152" cy="406153"/>
            <a:chOff x="0" y="0"/>
            <a:chExt cx="541537" cy="541537"/>
          </a:xfrm>
        </p:grpSpPr>
        <p:sp>
          <p:nvSpPr>
            <p:cNvPr name="Freeform 16" id="16"/>
            <p:cNvSpPr/>
            <p:nvPr/>
          </p:nvSpPr>
          <p:spPr>
            <a:xfrm flipH="false" flipV="false" rot="0">
              <a:off x="6350" y="6350"/>
              <a:ext cx="528828" cy="528828"/>
            </a:xfrm>
            <a:custGeom>
              <a:avLst/>
              <a:gdLst/>
              <a:ahLst/>
              <a:cxnLst/>
              <a:rect r="r" b="b" t="t" l="l"/>
              <a:pathLst>
                <a:path h="528828" w="528828">
                  <a:moveTo>
                    <a:pt x="0" y="98679"/>
                  </a:moveTo>
                  <a:cubicBezTo>
                    <a:pt x="0" y="44196"/>
                    <a:pt x="44196" y="0"/>
                    <a:pt x="98679" y="0"/>
                  </a:cubicBezTo>
                  <a:lnTo>
                    <a:pt x="430149" y="0"/>
                  </a:lnTo>
                  <a:cubicBezTo>
                    <a:pt x="484632" y="0"/>
                    <a:pt x="528828" y="44196"/>
                    <a:pt x="528828" y="98679"/>
                  </a:cubicBezTo>
                  <a:lnTo>
                    <a:pt x="528828" y="430149"/>
                  </a:lnTo>
                  <a:cubicBezTo>
                    <a:pt x="528828" y="484632"/>
                    <a:pt x="484632" y="528828"/>
                    <a:pt x="430149" y="528828"/>
                  </a:cubicBezTo>
                  <a:lnTo>
                    <a:pt x="98679" y="528828"/>
                  </a:lnTo>
                  <a:cubicBezTo>
                    <a:pt x="44196" y="528828"/>
                    <a:pt x="0" y="484632"/>
                    <a:pt x="0" y="430149"/>
                  </a:cubicBezTo>
                  <a:close/>
                </a:path>
              </a:pathLst>
            </a:custGeom>
            <a:solidFill>
              <a:srgbClr val="D2D9F9"/>
            </a:solidFill>
          </p:spPr>
        </p:sp>
        <p:sp>
          <p:nvSpPr>
            <p:cNvPr name="Freeform 17" id="17"/>
            <p:cNvSpPr/>
            <p:nvPr/>
          </p:nvSpPr>
          <p:spPr>
            <a:xfrm flipH="false" flipV="false" rot="0">
              <a:off x="0" y="0"/>
              <a:ext cx="541528" cy="541528"/>
            </a:xfrm>
            <a:custGeom>
              <a:avLst/>
              <a:gdLst/>
              <a:ahLst/>
              <a:cxnLst/>
              <a:rect r="r" b="b" t="t" l="l"/>
              <a:pathLst>
                <a:path h="541528" w="541528">
                  <a:moveTo>
                    <a:pt x="0" y="105029"/>
                  </a:moveTo>
                  <a:cubicBezTo>
                    <a:pt x="0" y="46990"/>
                    <a:pt x="46990" y="0"/>
                    <a:pt x="105029" y="0"/>
                  </a:cubicBezTo>
                  <a:lnTo>
                    <a:pt x="436499" y="0"/>
                  </a:lnTo>
                  <a:lnTo>
                    <a:pt x="436499" y="6350"/>
                  </a:lnTo>
                  <a:lnTo>
                    <a:pt x="436499" y="0"/>
                  </a:lnTo>
                  <a:cubicBezTo>
                    <a:pt x="494538" y="0"/>
                    <a:pt x="541528" y="46990"/>
                    <a:pt x="541528" y="105029"/>
                  </a:cubicBezTo>
                  <a:lnTo>
                    <a:pt x="535178" y="105029"/>
                  </a:lnTo>
                  <a:lnTo>
                    <a:pt x="541528" y="105029"/>
                  </a:lnTo>
                  <a:lnTo>
                    <a:pt x="541528" y="436499"/>
                  </a:lnTo>
                  <a:lnTo>
                    <a:pt x="535178" y="436499"/>
                  </a:lnTo>
                  <a:lnTo>
                    <a:pt x="541528" y="436499"/>
                  </a:lnTo>
                  <a:cubicBezTo>
                    <a:pt x="541528" y="494538"/>
                    <a:pt x="494538" y="541528"/>
                    <a:pt x="436499" y="541528"/>
                  </a:cubicBezTo>
                  <a:lnTo>
                    <a:pt x="436499" y="535178"/>
                  </a:lnTo>
                  <a:lnTo>
                    <a:pt x="436499" y="541528"/>
                  </a:lnTo>
                  <a:lnTo>
                    <a:pt x="105029" y="541528"/>
                  </a:lnTo>
                  <a:lnTo>
                    <a:pt x="105029" y="535178"/>
                  </a:lnTo>
                  <a:lnTo>
                    <a:pt x="105029" y="541528"/>
                  </a:lnTo>
                  <a:cubicBezTo>
                    <a:pt x="46990" y="541528"/>
                    <a:pt x="0" y="494538"/>
                    <a:pt x="0" y="436499"/>
                  </a:cubicBezTo>
                  <a:lnTo>
                    <a:pt x="0" y="105029"/>
                  </a:lnTo>
                  <a:lnTo>
                    <a:pt x="6350" y="105029"/>
                  </a:lnTo>
                  <a:lnTo>
                    <a:pt x="0" y="105029"/>
                  </a:lnTo>
                  <a:moveTo>
                    <a:pt x="12700" y="105029"/>
                  </a:moveTo>
                  <a:lnTo>
                    <a:pt x="12700" y="436499"/>
                  </a:lnTo>
                  <a:lnTo>
                    <a:pt x="6350" y="436499"/>
                  </a:lnTo>
                  <a:lnTo>
                    <a:pt x="12700" y="436499"/>
                  </a:lnTo>
                  <a:cubicBezTo>
                    <a:pt x="12700" y="487553"/>
                    <a:pt x="54102" y="528828"/>
                    <a:pt x="105029" y="528828"/>
                  </a:cubicBezTo>
                  <a:lnTo>
                    <a:pt x="436499" y="528828"/>
                  </a:lnTo>
                  <a:cubicBezTo>
                    <a:pt x="487553" y="528828"/>
                    <a:pt x="528828" y="487426"/>
                    <a:pt x="528828" y="436499"/>
                  </a:cubicBezTo>
                  <a:lnTo>
                    <a:pt x="528828" y="105029"/>
                  </a:lnTo>
                  <a:cubicBezTo>
                    <a:pt x="528828" y="54102"/>
                    <a:pt x="487426" y="12700"/>
                    <a:pt x="436499" y="12700"/>
                  </a:cubicBezTo>
                  <a:lnTo>
                    <a:pt x="105029" y="12700"/>
                  </a:lnTo>
                  <a:lnTo>
                    <a:pt x="105029" y="6350"/>
                  </a:lnTo>
                  <a:lnTo>
                    <a:pt x="105029" y="12700"/>
                  </a:lnTo>
                  <a:cubicBezTo>
                    <a:pt x="54102" y="12700"/>
                    <a:pt x="12700" y="54102"/>
                    <a:pt x="12700" y="105029"/>
                  </a:cubicBezTo>
                  <a:close/>
                </a:path>
              </a:pathLst>
            </a:custGeom>
            <a:solidFill>
              <a:srgbClr val="B8BFDF"/>
            </a:solidFill>
          </p:spPr>
        </p:sp>
      </p:grpSp>
      <p:sp>
        <p:nvSpPr>
          <p:cNvPr name="TextBox 18" id="18"/>
          <p:cNvSpPr txBox="true"/>
          <p:nvPr/>
        </p:nvSpPr>
        <p:spPr>
          <a:xfrm rot="0">
            <a:off x="9434661" y="3259410"/>
            <a:ext cx="264319" cy="292447"/>
          </a:xfrm>
          <a:prstGeom prst="rect">
            <a:avLst/>
          </a:prstGeom>
        </p:spPr>
        <p:txBody>
          <a:bodyPr anchor="t" rtlCol="false" tIns="0" lIns="0" bIns="0" rIns="0">
            <a:spAutoFit/>
          </a:bodyPr>
          <a:lstStyle/>
          <a:p>
            <a:pPr algn="ctr">
              <a:lnSpc>
                <a:spcPts val="2062"/>
              </a:lnSpc>
            </a:pPr>
            <a:r>
              <a:rPr lang="en-US" sz="2062">
                <a:solidFill>
                  <a:srgbClr val="404155"/>
                </a:solidFill>
                <a:latin typeface="Corben"/>
                <a:ea typeface="Corben"/>
                <a:cs typeface="Corben"/>
                <a:sym typeface="Corben"/>
              </a:rPr>
              <a:t>2</a:t>
            </a:r>
          </a:p>
        </p:txBody>
      </p:sp>
      <p:sp>
        <p:nvSpPr>
          <p:cNvPr name="TextBox 19" id="19"/>
          <p:cNvSpPr txBox="true"/>
          <p:nvPr/>
        </p:nvSpPr>
        <p:spPr>
          <a:xfrm rot="0">
            <a:off x="9941421" y="3229867"/>
            <a:ext cx="2605534" cy="294531"/>
          </a:xfrm>
          <a:prstGeom prst="rect">
            <a:avLst/>
          </a:prstGeom>
        </p:spPr>
        <p:txBody>
          <a:bodyPr anchor="t" rtlCol="false" tIns="0" lIns="0" bIns="0" rIns="0">
            <a:spAutoFit/>
          </a:bodyPr>
          <a:lstStyle/>
          <a:p>
            <a:pPr algn="l">
              <a:lnSpc>
                <a:spcPts val="2124"/>
              </a:lnSpc>
            </a:pPr>
            <a:r>
              <a:rPr lang="en-US" sz="1687">
                <a:solidFill>
                  <a:srgbClr val="404155"/>
                </a:solidFill>
                <a:latin typeface="Corben"/>
                <a:ea typeface="Corben"/>
                <a:cs typeface="Corben"/>
                <a:sym typeface="Corben"/>
              </a:rPr>
              <a:t>Basic Thermal Validation</a:t>
            </a:r>
          </a:p>
        </p:txBody>
      </p:sp>
      <p:sp>
        <p:nvSpPr>
          <p:cNvPr name="TextBox 20" id="20"/>
          <p:cNvSpPr txBox="true"/>
          <p:nvPr/>
        </p:nvSpPr>
        <p:spPr>
          <a:xfrm rot="0">
            <a:off x="9941421" y="3633936"/>
            <a:ext cx="7406879" cy="631031"/>
          </a:xfrm>
          <a:prstGeom prst="rect">
            <a:avLst/>
          </a:prstGeom>
        </p:spPr>
        <p:txBody>
          <a:bodyPr anchor="t" rtlCol="false" tIns="0" lIns="0" bIns="0" rIns="0">
            <a:spAutoFit/>
          </a:bodyPr>
          <a:lstStyle/>
          <a:p>
            <a:pPr algn="l">
              <a:lnSpc>
                <a:spcPts val="2187"/>
              </a:lnSpc>
            </a:pPr>
            <a:r>
              <a:rPr lang="en-US" sz="1375">
                <a:solidFill>
                  <a:srgbClr val="404155"/>
                </a:solidFill>
                <a:latin typeface="Arimo"/>
                <a:ea typeface="Arimo"/>
                <a:cs typeface="Arimo"/>
                <a:sym typeface="Arimo"/>
              </a:rPr>
              <a:t>Initial simulations have successfully validated the basic thermal behavior of the pack under load conditions.</a:t>
            </a:r>
          </a:p>
        </p:txBody>
      </p:sp>
      <p:grpSp>
        <p:nvGrpSpPr>
          <p:cNvPr name="Group 21" id="21"/>
          <p:cNvGrpSpPr/>
          <p:nvPr/>
        </p:nvGrpSpPr>
        <p:grpSpPr>
          <a:xfrm rot="0">
            <a:off x="9363819" y="4612779"/>
            <a:ext cx="406152" cy="406153"/>
            <a:chOff x="0" y="0"/>
            <a:chExt cx="541537" cy="541537"/>
          </a:xfrm>
        </p:grpSpPr>
        <p:sp>
          <p:nvSpPr>
            <p:cNvPr name="Freeform 22" id="22"/>
            <p:cNvSpPr/>
            <p:nvPr/>
          </p:nvSpPr>
          <p:spPr>
            <a:xfrm flipH="false" flipV="false" rot="0">
              <a:off x="6350" y="6350"/>
              <a:ext cx="528828" cy="528828"/>
            </a:xfrm>
            <a:custGeom>
              <a:avLst/>
              <a:gdLst/>
              <a:ahLst/>
              <a:cxnLst/>
              <a:rect r="r" b="b" t="t" l="l"/>
              <a:pathLst>
                <a:path h="528828" w="528828">
                  <a:moveTo>
                    <a:pt x="0" y="98679"/>
                  </a:moveTo>
                  <a:cubicBezTo>
                    <a:pt x="0" y="44196"/>
                    <a:pt x="44196" y="0"/>
                    <a:pt x="98679" y="0"/>
                  </a:cubicBezTo>
                  <a:lnTo>
                    <a:pt x="430149" y="0"/>
                  </a:lnTo>
                  <a:cubicBezTo>
                    <a:pt x="484632" y="0"/>
                    <a:pt x="528828" y="44196"/>
                    <a:pt x="528828" y="98679"/>
                  </a:cubicBezTo>
                  <a:lnTo>
                    <a:pt x="528828" y="430149"/>
                  </a:lnTo>
                  <a:cubicBezTo>
                    <a:pt x="528828" y="484632"/>
                    <a:pt x="484632" y="528828"/>
                    <a:pt x="430149" y="528828"/>
                  </a:cubicBezTo>
                  <a:lnTo>
                    <a:pt x="98679" y="528828"/>
                  </a:lnTo>
                  <a:cubicBezTo>
                    <a:pt x="44196" y="528828"/>
                    <a:pt x="0" y="484632"/>
                    <a:pt x="0" y="430149"/>
                  </a:cubicBezTo>
                  <a:close/>
                </a:path>
              </a:pathLst>
            </a:custGeom>
            <a:solidFill>
              <a:srgbClr val="D2D9F9"/>
            </a:solidFill>
          </p:spPr>
        </p:sp>
        <p:sp>
          <p:nvSpPr>
            <p:cNvPr name="Freeform 23" id="23"/>
            <p:cNvSpPr/>
            <p:nvPr/>
          </p:nvSpPr>
          <p:spPr>
            <a:xfrm flipH="false" flipV="false" rot="0">
              <a:off x="0" y="0"/>
              <a:ext cx="541528" cy="541528"/>
            </a:xfrm>
            <a:custGeom>
              <a:avLst/>
              <a:gdLst/>
              <a:ahLst/>
              <a:cxnLst/>
              <a:rect r="r" b="b" t="t" l="l"/>
              <a:pathLst>
                <a:path h="541528" w="541528">
                  <a:moveTo>
                    <a:pt x="0" y="105029"/>
                  </a:moveTo>
                  <a:cubicBezTo>
                    <a:pt x="0" y="46990"/>
                    <a:pt x="46990" y="0"/>
                    <a:pt x="105029" y="0"/>
                  </a:cubicBezTo>
                  <a:lnTo>
                    <a:pt x="436499" y="0"/>
                  </a:lnTo>
                  <a:lnTo>
                    <a:pt x="436499" y="6350"/>
                  </a:lnTo>
                  <a:lnTo>
                    <a:pt x="436499" y="0"/>
                  </a:lnTo>
                  <a:cubicBezTo>
                    <a:pt x="494538" y="0"/>
                    <a:pt x="541528" y="46990"/>
                    <a:pt x="541528" y="105029"/>
                  </a:cubicBezTo>
                  <a:lnTo>
                    <a:pt x="535178" y="105029"/>
                  </a:lnTo>
                  <a:lnTo>
                    <a:pt x="541528" y="105029"/>
                  </a:lnTo>
                  <a:lnTo>
                    <a:pt x="541528" y="436499"/>
                  </a:lnTo>
                  <a:lnTo>
                    <a:pt x="535178" y="436499"/>
                  </a:lnTo>
                  <a:lnTo>
                    <a:pt x="541528" y="436499"/>
                  </a:lnTo>
                  <a:cubicBezTo>
                    <a:pt x="541528" y="494538"/>
                    <a:pt x="494538" y="541528"/>
                    <a:pt x="436499" y="541528"/>
                  </a:cubicBezTo>
                  <a:lnTo>
                    <a:pt x="436499" y="535178"/>
                  </a:lnTo>
                  <a:lnTo>
                    <a:pt x="436499" y="541528"/>
                  </a:lnTo>
                  <a:lnTo>
                    <a:pt x="105029" y="541528"/>
                  </a:lnTo>
                  <a:lnTo>
                    <a:pt x="105029" y="535178"/>
                  </a:lnTo>
                  <a:lnTo>
                    <a:pt x="105029" y="541528"/>
                  </a:lnTo>
                  <a:cubicBezTo>
                    <a:pt x="46990" y="541528"/>
                    <a:pt x="0" y="494538"/>
                    <a:pt x="0" y="436499"/>
                  </a:cubicBezTo>
                  <a:lnTo>
                    <a:pt x="0" y="105029"/>
                  </a:lnTo>
                  <a:lnTo>
                    <a:pt x="6350" y="105029"/>
                  </a:lnTo>
                  <a:lnTo>
                    <a:pt x="0" y="105029"/>
                  </a:lnTo>
                  <a:moveTo>
                    <a:pt x="12700" y="105029"/>
                  </a:moveTo>
                  <a:lnTo>
                    <a:pt x="12700" y="436499"/>
                  </a:lnTo>
                  <a:lnTo>
                    <a:pt x="6350" y="436499"/>
                  </a:lnTo>
                  <a:lnTo>
                    <a:pt x="12700" y="436499"/>
                  </a:lnTo>
                  <a:cubicBezTo>
                    <a:pt x="12700" y="487553"/>
                    <a:pt x="54102" y="528828"/>
                    <a:pt x="105029" y="528828"/>
                  </a:cubicBezTo>
                  <a:lnTo>
                    <a:pt x="436499" y="528828"/>
                  </a:lnTo>
                  <a:cubicBezTo>
                    <a:pt x="487553" y="528828"/>
                    <a:pt x="528828" y="487426"/>
                    <a:pt x="528828" y="436499"/>
                  </a:cubicBezTo>
                  <a:lnTo>
                    <a:pt x="528828" y="105029"/>
                  </a:lnTo>
                  <a:cubicBezTo>
                    <a:pt x="528828" y="54102"/>
                    <a:pt x="487426" y="12700"/>
                    <a:pt x="436499" y="12700"/>
                  </a:cubicBezTo>
                  <a:lnTo>
                    <a:pt x="105029" y="12700"/>
                  </a:lnTo>
                  <a:lnTo>
                    <a:pt x="105029" y="6350"/>
                  </a:lnTo>
                  <a:lnTo>
                    <a:pt x="105029" y="12700"/>
                  </a:lnTo>
                  <a:cubicBezTo>
                    <a:pt x="54102" y="12700"/>
                    <a:pt x="12700" y="54102"/>
                    <a:pt x="12700" y="105029"/>
                  </a:cubicBezTo>
                  <a:close/>
                </a:path>
              </a:pathLst>
            </a:custGeom>
            <a:solidFill>
              <a:srgbClr val="B8BFDF"/>
            </a:solidFill>
          </p:spPr>
        </p:sp>
      </p:grpSp>
      <p:sp>
        <p:nvSpPr>
          <p:cNvPr name="TextBox 24" id="24"/>
          <p:cNvSpPr txBox="true"/>
          <p:nvPr/>
        </p:nvSpPr>
        <p:spPr>
          <a:xfrm rot="0">
            <a:off x="9434661" y="4688606"/>
            <a:ext cx="264319" cy="292448"/>
          </a:xfrm>
          <a:prstGeom prst="rect">
            <a:avLst/>
          </a:prstGeom>
        </p:spPr>
        <p:txBody>
          <a:bodyPr anchor="t" rtlCol="false" tIns="0" lIns="0" bIns="0" rIns="0">
            <a:spAutoFit/>
          </a:bodyPr>
          <a:lstStyle/>
          <a:p>
            <a:pPr algn="ctr">
              <a:lnSpc>
                <a:spcPts val="2062"/>
              </a:lnSpc>
            </a:pPr>
            <a:r>
              <a:rPr lang="en-US" sz="2062">
                <a:solidFill>
                  <a:srgbClr val="404155"/>
                </a:solidFill>
                <a:latin typeface="Corben"/>
                <a:ea typeface="Corben"/>
                <a:cs typeface="Corben"/>
                <a:sym typeface="Corben"/>
              </a:rPr>
              <a:t>3</a:t>
            </a:r>
          </a:p>
        </p:txBody>
      </p:sp>
      <p:sp>
        <p:nvSpPr>
          <p:cNvPr name="TextBox 25" id="25"/>
          <p:cNvSpPr txBox="true"/>
          <p:nvPr/>
        </p:nvSpPr>
        <p:spPr>
          <a:xfrm rot="0">
            <a:off x="9941421" y="4659065"/>
            <a:ext cx="2593479" cy="294531"/>
          </a:xfrm>
          <a:prstGeom prst="rect">
            <a:avLst/>
          </a:prstGeom>
        </p:spPr>
        <p:txBody>
          <a:bodyPr anchor="t" rtlCol="false" tIns="0" lIns="0" bIns="0" rIns="0">
            <a:spAutoFit/>
          </a:bodyPr>
          <a:lstStyle/>
          <a:p>
            <a:pPr algn="l">
              <a:lnSpc>
                <a:spcPts val="2124"/>
              </a:lnSpc>
            </a:pPr>
            <a:r>
              <a:rPr lang="en-US" sz="1687">
                <a:solidFill>
                  <a:srgbClr val="404155"/>
                </a:solidFill>
                <a:latin typeface="Corben"/>
                <a:ea typeface="Corben"/>
                <a:cs typeface="Corben"/>
                <a:sym typeface="Corben"/>
              </a:rPr>
              <a:t>Ready for Enhancements</a:t>
            </a:r>
          </a:p>
        </p:txBody>
      </p:sp>
      <p:sp>
        <p:nvSpPr>
          <p:cNvPr name="TextBox 26" id="26"/>
          <p:cNvSpPr txBox="true"/>
          <p:nvPr/>
        </p:nvSpPr>
        <p:spPr>
          <a:xfrm rot="0">
            <a:off x="9941421" y="5063132"/>
            <a:ext cx="7406879" cy="631031"/>
          </a:xfrm>
          <a:prstGeom prst="rect">
            <a:avLst/>
          </a:prstGeom>
        </p:spPr>
        <p:txBody>
          <a:bodyPr anchor="t" rtlCol="false" tIns="0" lIns="0" bIns="0" rIns="0">
            <a:spAutoFit/>
          </a:bodyPr>
          <a:lstStyle/>
          <a:p>
            <a:pPr algn="l">
              <a:lnSpc>
                <a:spcPts val="2187"/>
              </a:lnSpc>
            </a:pPr>
            <a:r>
              <a:rPr lang="en-US" sz="1375">
                <a:solidFill>
                  <a:srgbClr val="404155"/>
                </a:solidFill>
                <a:latin typeface="Arimo"/>
                <a:ea typeface="Arimo"/>
                <a:cs typeface="Arimo"/>
                <a:sym typeface="Arimo"/>
              </a:rPr>
              <a:t>The current model serves as a robust foundation for integrating advanced thermal management strategies and detailed analyses.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DAGrvy3WUCM</dc:identifier>
  <dcterms:modified xsi:type="dcterms:W3CDTF">2011-08-01T06:04:30Z</dcterms:modified>
  <cp:revision>1</cp:revision>
</cp:coreProperties>
</file>